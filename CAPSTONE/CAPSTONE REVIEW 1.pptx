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80" r:id="rId4"/>
    <p:sldId id="278" r:id="rId5"/>
    <p:sldId id="261" r:id="rId6"/>
    <p:sldId id="258" r:id="rId7"/>
    <p:sldId id="281" r:id="rId8"/>
    <p:sldId id="268" r:id="rId9"/>
    <p:sldId id="282" r:id="rId10"/>
    <p:sldId id="286" r:id="rId11"/>
    <p:sldId id="283" r:id="rId12"/>
    <p:sldId id="287" r:id="rId13"/>
    <p:sldId id="284" r:id="rId14"/>
    <p:sldId id="288" r:id="rId15"/>
    <p:sldId id="285" r:id="rId16"/>
    <p:sldId id="28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48" autoAdjust="0"/>
    <p:restoredTop sz="95388" autoAdjust="0"/>
  </p:normalViewPr>
  <p:slideViewPr>
    <p:cSldViewPr snapToGrid="0" snapToObjects="1">
      <p:cViewPr varScale="1">
        <p:scale>
          <a:sx n="89" d="100"/>
          <a:sy n="89" d="100"/>
        </p:scale>
        <p:origin x="302" y="7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hyperlink" Target="https://portal.findresearcher.sdu.dk/en/publications/students-performance-prediction-employing-decision-tree/?utm_source=chatgpt.com"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link.springer.com/article/10.1007/s10639-024-12619-w?utm_source=chatgpt.com" TargetMode="External"/><Relationship Id="rId5" Type="http://schemas.openxmlformats.org/officeDocument/2006/relationships/hyperlink" Target="https://www.nature.com/articles/s41598-022-15880-6?utm_source=chatgpt.com" TargetMode="External"/><Relationship Id="rId4" Type="http://schemas.openxmlformats.org/officeDocument/2006/relationships/hyperlink" Target="https://link.springer.com/article/10.1186/s40561-022-00192-z?utm_source=chatgpt.com"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4910" y="1445016"/>
            <a:ext cx="10363200" cy="1470025"/>
          </a:xfrm>
        </p:spPr>
        <p:txBody>
          <a:bodyPr>
            <a:noAutofit/>
          </a:bodyPr>
          <a:lstStyle/>
          <a:p>
            <a:pPr fontAlgn="ctr"/>
            <a:r>
              <a:rPr lang="en-IN" sz="3600" b="1" dirty="0" err="1">
                <a:latin typeface="Times New Roman" panose="02020603050405020304" pitchFamily="18" charset="0"/>
                <a:cs typeface="Times New Roman" panose="02020603050405020304" pitchFamily="18" charset="0"/>
              </a:rPr>
              <a:t>SkillLens</a:t>
            </a:r>
            <a:r>
              <a:rPr lang="en-IN" sz="3600" b="1" dirty="0">
                <a:latin typeface="Times New Roman" panose="02020603050405020304" pitchFamily="18" charset="0"/>
                <a:cs typeface="Times New Roman" panose="02020603050405020304" pitchFamily="18" charset="0"/>
              </a:rPr>
              <a:t>: Student Placement Intelligence System Using Data Warehousing and Data Mining</a:t>
            </a:r>
          </a:p>
        </p:txBody>
      </p:sp>
      <p:sp>
        <p:nvSpPr>
          <p:cNvPr id="3" name="Subtitle 2"/>
          <p:cNvSpPr>
            <a:spLocks noGrp="1"/>
          </p:cNvSpPr>
          <p:nvPr>
            <p:ph type="subTitle" idx="1"/>
          </p:nvPr>
        </p:nvSpPr>
        <p:spPr>
          <a:xfrm>
            <a:off x="1043896" y="4028413"/>
            <a:ext cx="4114701" cy="2570957"/>
          </a:xfrm>
        </p:spPr>
        <p:txBody>
          <a:bodyPr>
            <a:noAutofit/>
          </a:bodyPr>
          <a:lstStyle/>
          <a:p>
            <a:pPr algn="l"/>
            <a:r>
              <a:rPr sz="1800" b="1" dirty="0">
                <a:solidFill>
                  <a:srgbClr val="FF0000"/>
                </a:solidFill>
                <a:latin typeface="Times New Roman" panose="02020603050405020304" pitchFamily="18" charset="0"/>
                <a:cs typeface="Times New Roman" panose="02020603050405020304" pitchFamily="18" charset="0"/>
              </a:rPr>
              <a:t>Presented by: </a:t>
            </a:r>
            <a:r>
              <a:rPr lang="en-US" sz="1800" b="1" dirty="0">
                <a:solidFill>
                  <a:srgbClr val="FF0000"/>
                </a:solidFill>
                <a:latin typeface="Times New Roman" panose="02020603050405020304" pitchFamily="18" charset="0"/>
                <a:cs typeface="Times New Roman" panose="02020603050405020304" pitchFamily="18" charset="0"/>
              </a:rPr>
              <a:t>                                                                     </a:t>
            </a:r>
          </a:p>
          <a:p>
            <a:pPr algn="l"/>
            <a:r>
              <a:rPr lang="en-IN" sz="1800" b="1" dirty="0">
                <a:solidFill>
                  <a:srgbClr val="0070C0"/>
                </a:solidFill>
                <a:latin typeface="Times New Roman" panose="02020603050405020304" pitchFamily="18" charset="0"/>
                <a:cs typeface="Times New Roman" panose="02020603050405020304" pitchFamily="18" charset="0"/>
              </a:rPr>
              <a:t>HARESH KUMAR N L </a:t>
            </a:r>
            <a:r>
              <a:rPr lang="en-IN" sz="1800" b="1" dirty="0">
                <a:solidFill>
                  <a:schemeClr val="accent2"/>
                </a:solidFill>
                <a:latin typeface="Times New Roman" panose="02020603050405020304" pitchFamily="18" charset="0"/>
                <a:cs typeface="Times New Roman" panose="02020603050405020304" pitchFamily="18" charset="0"/>
              </a:rPr>
              <a:t>– </a:t>
            </a:r>
            <a:r>
              <a:rPr lang="en-IN" sz="1800" b="1" dirty="0">
                <a:solidFill>
                  <a:srgbClr val="FF0000"/>
                </a:solidFill>
                <a:latin typeface="Times New Roman" panose="02020603050405020304" pitchFamily="18" charset="0"/>
                <a:cs typeface="Times New Roman" panose="02020603050405020304" pitchFamily="18" charset="0"/>
              </a:rPr>
              <a:t>192425009</a:t>
            </a:r>
          </a:p>
          <a:p>
            <a:pPr algn="l"/>
            <a:r>
              <a:rPr lang="en-IN" sz="1800" b="1" dirty="0">
                <a:solidFill>
                  <a:srgbClr val="0070C0"/>
                </a:solidFill>
                <a:latin typeface="Times New Roman" panose="02020603050405020304" pitchFamily="18" charset="0"/>
                <a:cs typeface="Times New Roman" panose="02020603050405020304" pitchFamily="18" charset="0"/>
              </a:rPr>
              <a:t>AJAY I </a:t>
            </a:r>
            <a:r>
              <a:rPr lang="en-IN" sz="1800" b="1" dirty="0">
                <a:solidFill>
                  <a:schemeClr val="accent2"/>
                </a:solidFill>
                <a:latin typeface="Times New Roman" panose="02020603050405020304" pitchFamily="18" charset="0"/>
                <a:cs typeface="Times New Roman" panose="02020603050405020304" pitchFamily="18" charset="0"/>
              </a:rPr>
              <a:t>– </a:t>
            </a:r>
            <a:r>
              <a:rPr lang="en-IN" sz="1800" b="1" dirty="0">
                <a:solidFill>
                  <a:srgbClr val="FF0000"/>
                </a:solidFill>
                <a:latin typeface="Times New Roman" panose="02020603050405020304" pitchFamily="18" charset="0"/>
                <a:cs typeface="Times New Roman" panose="02020603050405020304" pitchFamily="18" charset="0"/>
              </a:rPr>
              <a:t>192421147</a:t>
            </a:r>
          </a:p>
          <a:p>
            <a:pPr algn="l"/>
            <a:r>
              <a:rPr lang="en-IN" sz="1800" b="1" dirty="0">
                <a:solidFill>
                  <a:srgbClr val="0070C0"/>
                </a:solidFill>
                <a:latin typeface="Times New Roman" panose="02020603050405020304" pitchFamily="18" charset="0"/>
                <a:cs typeface="Times New Roman" panose="02020603050405020304" pitchFamily="18" charset="0"/>
              </a:rPr>
              <a:t>SAKTHI KAILASH T </a:t>
            </a:r>
            <a:r>
              <a:rPr lang="en-IN" sz="1800" b="1" dirty="0">
                <a:solidFill>
                  <a:schemeClr val="accent2"/>
                </a:solidFill>
                <a:latin typeface="Times New Roman" panose="02020603050405020304" pitchFamily="18" charset="0"/>
                <a:cs typeface="Times New Roman" panose="02020603050405020304" pitchFamily="18" charset="0"/>
              </a:rPr>
              <a:t>– </a:t>
            </a:r>
            <a:r>
              <a:rPr lang="en-IN" sz="1800" b="1" dirty="0">
                <a:solidFill>
                  <a:srgbClr val="FF0000"/>
                </a:solidFill>
                <a:latin typeface="Times New Roman" panose="02020603050405020304" pitchFamily="18" charset="0"/>
                <a:cs typeface="Times New Roman" panose="02020603050405020304" pitchFamily="18" charset="0"/>
              </a:rPr>
              <a:t>192411068</a:t>
            </a:r>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6" name="Picture 5"/>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4" name="TextBox 3">
            <a:extLst>
              <a:ext uri="{FF2B5EF4-FFF2-40B4-BE49-F238E27FC236}">
                <a16:creationId xmlns:a16="http://schemas.microsoft.com/office/drawing/2014/main" id="{F863E993-DEE3-4481-B822-EA4B1C996A8E}"/>
              </a:ext>
            </a:extLst>
          </p:cNvPr>
          <p:cNvSpPr txBox="1"/>
          <p:nvPr/>
        </p:nvSpPr>
        <p:spPr>
          <a:xfrm>
            <a:off x="0" y="3162591"/>
            <a:ext cx="12192000" cy="523220"/>
          </a:xfrm>
          <a:prstGeom prst="rect">
            <a:avLst/>
          </a:prstGeom>
          <a:noFill/>
        </p:spPr>
        <p:txBody>
          <a:bodyPr wrap="square" rtlCol="0">
            <a:spAutoFit/>
          </a:bodyPr>
          <a:lstStyle/>
          <a:p>
            <a:pPr algn="ctr"/>
            <a:r>
              <a:rPr lang="en-US" sz="2800" dirty="0">
                <a:latin typeface="Times New Roman" panose="02020603050405020304" pitchFamily="18" charset="0"/>
                <a:cs typeface="Times New Roman" panose="02020603050405020304" pitchFamily="18" charset="0"/>
              </a:rPr>
              <a:t>CSA1606 – Data Warehousing and Data Mining</a:t>
            </a:r>
            <a:endParaRPr lang="en-IN" sz="2800" dirty="0">
              <a:latin typeface="Times New Roman" panose="02020603050405020304" pitchFamily="18" charset="0"/>
              <a:cs typeface="Times New Roman" panose="02020603050405020304" pitchFamily="18" charset="0"/>
            </a:endParaRPr>
          </a:p>
        </p:txBody>
      </p:sp>
      <p:sp>
        <p:nvSpPr>
          <p:cNvPr id="7" name="Subtitle 2">
            <a:extLst>
              <a:ext uri="{FF2B5EF4-FFF2-40B4-BE49-F238E27FC236}">
                <a16:creationId xmlns:a16="http://schemas.microsoft.com/office/drawing/2014/main" id="{0BE08850-32DE-C800-DB9F-E38F4EDB3B6D}"/>
              </a:ext>
            </a:extLst>
          </p:cNvPr>
          <p:cNvSpPr txBox="1">
            <a:spLocks/>
          </p:cNvSpPr>
          <p:nvPr/>
        </p:nvSpPr>
        <p:spPr>
          <a:xfrm>
            <a:off x="8872436" y="4146843"/>
            <a:ext cx="2415674" cy="988265"/>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r>
              <a:rPr lang="en-US" sz="1800" b="1" dirty="0">
                <a:solidFill>
                  <a:srgbClr val="FF0000"/>
                </a:solidFill>
                <a:latin typeface="Times New Roman" panose="02020603050405020304" pitchFamily="18" charset="0"/>
                <a:cs typeface="Times New Roman" panose="02020603050405020304" pitchFamily="18" charset="0"/>
              </a:rPr>
              <a:t>Guided by:                                                                      </a:t>
            </a:r>
          </a:p>
          <a:p>
            <a:pPr algn="l"/>
            <a:r>
              <a:rPr lang="en-US" sz="1800" b="1" dirty="0">
                <a:solidFill>
                  <a:srgbClr val="0070C0"/>
                </a:solidFill>
                <a:latin typeface="Times New Roman" panose="02020603050405020304" pitchFamily="18" charset="0"/>
                <a:cs typeface="Times New Roman" panose="02020603050405020304" pitchFamily="18" charset="0"/>
              </a:rPr>
              <a:t>Dr Renuga S</a:t>
            </a:r>
          </a:p>
          <a:p>
            <a:pPr algn="l"/>
            <a:r>
              <a:rPr lang="en-US" sz="1800" dirty="0">
                <a:solidFill>
                  <a:srgbClr val="0070C0"/>
                </a:solidFill>
                <a:latin typeface="Times New Roman" panose="02020603050405020304" pitchFamily="18" charset="0"/>
                <a:cs typeface="Times New Roman" panose="02020603050405020304" pitchFamily="18" charset="0"/>
              </a:rPr>
              <a:t>Professor / CSE</a:t>
            </a:r>
            <a:endParaRPr lang="en-US" sz="18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4000" b="1" dirty="0">
                <a:latin typeface="Times New Roman" panose="02020603050405020304" pitchFamily="18" charset="0"/>
                <a:cs typeface="Times New Roman" panose="02020603050405020304" pitchFamily="18" charset="0"/>
              </a:rPr>
              <a:t>ABSTRACT</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74754"/>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79078"/>
            <a:ext cx="1520114" cy="1342884"/>
          </a:xfrm>
          <a:prstGeom prst="rect">
            <a:avLst/>
          </a:prstGeom>
          <a:noFill/>
          <a:ln>
            <a:noFill/>
          </a:ln>
        </p:spPr>
      </p:pic>
      <p:sp>
        <p:nvSpPr>
          <p:cNvPr id="7" name="Rectangle 2">
            <a:extLst>
              <a:ext uri="{FF2B5EF4-FFF2-40B4-BE49-F238E27FC236}">
                <a16:creationId xmlns:a16="http://schemas.microsoft.com/office/drawing/2014/main" id="{3F5620E0-EBA5-456E-851F-19C81EF4A016}"/>
              </a:ext>
            </a:extLst>
          </p:cNvPr>
          <p:cNvSpPr>
            <a:spLocks noGrp="1" noChangeArrowheads="1"/>
          </p:cNvSpPr>
          <p:nvPr>
            <p:ph idx="1"/>
          </p:nvPr>
        </p:nvSpPr>
        <p:spPr bwMode="auto">
          <a:xfrm>
            <a:off x="483476" y="2000997"/>
            <a:ext cx="11225048" cy="3859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IN" sz="2400" dirty="0">
                <a:latin typeface="Times New Roman" panose="02020603050405020304" pitchFamily="18" charset="0"/>
                <a:cs typeface="Times New Roman" panose="02020603050405020304" pitchFamily="18" charset="0"/>
              </a:rPr>
              <a:t>The Student Placement Intelligence System is a Data Warehousing and Data Mining project designed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student academic, skill, internship, and placement data. The system uses ETL techniques to clean and transform the data and stores it in a structured MySQL data warehouse using a Star Schema for efficient analysis.</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pPr marL="0" indent="0" algn="just">
              <a:buNone/>
            </a:pPr>
            <a:r>
              <a:rPr lang="en-IN" sz="2400" dirty="0">
                <a:latin typeface="Times New Roman" panose="02020603050405020304" pitchFamily="18" charset="0"/>
                <a:cs typeface="Times New Roman" panose="02020603050405020304" pitchFamily="18" charset="0"/>
              </a:rPr>
              <a:t>Data mining techniques such as Decision Tree, K-Means Clustering, and </a:t>
            </a:r>
            <a:r>
              <a:rPr lang="en-IN" sz="2400" dirty="0" err="1">
                <a:latin typeface="Times New Roman" panose="02020603050405020304" pitchFamily="18" charset="0"/>
                <a:cs typeface="Times New Roman" panose="02020603050405020304" pitchFamily="18" charset="0"/>
              </a:rPr>
              <a:t>Apriori</a:t>
            </a:r>
            <a:r>
              <a:rPr lang="en-IN" sz="2400" dirty="0">
                <a:latin typeface="Times New Roman" panose="02020603050405020304" pitchFamily="18" charset="0"/>
                <a:cs typeface="Times New Roman" panose="02020603050405020304" pitchFamily="18" charset="0"/>
              </a:rPr>
              <a:t> Association Rule Mining are applied to predict placement outcomes and discover useful patterns. Power BI is used to create interactive dashboards and reports, while a Flask-based web application provides an easy interface for viewing student information, predictions, analysis, and placement reports.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5D8DE-6A16-3EE6-9DA5-36DD496A9D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EF9B8C-8DE0-6950-5F62-7E196AD35B9D}"/>
              </a:ext>
            </a:extLst>
          </p:cNvPr>
          <p:cNvSpPr>
            <a:spLocks noGrp="1"/>
          </p:cNvSpPr>
          <p:nvPr>
            <p:ph type="title"/>
          </p:nvPr>
        </p:nvSpPr>
        <p:spPr/>
        <p:txBody>
          <a:bodyPr>
            <a:normAutofit/>
          </a:bodyPr>
          <a:lstStyle/>
          <a:p>
            <a:r>
              <a:rPr lang="en-AU" sz="4000" b="1" dirty="0">
                <a:latin typeface="Times New Roman" panose="02020603050405020304" pitchFamily="18" charset="0"/>
                <a:cs typeface="Times New Roman" panose="02020603050405020304" pitchFamily="18" charset="0"/>
              </a:rPr>
              <a:t>OBJECTIVES</a:t>
            </a:r>
          </a:p>
        </p:txBody>
      </p:sp>
      <p:pic>
        <p:nvPicPr>
          <p:cNvPr id="4" name="Picture 3">
            <a:extLst>
              <a:ext uri="{FF2B5EF4-FFF2-40B4-BE49-F238E27FC236}">
                <a16:creationId xmlns:a16="http://schemas.microsoft.com/office/drawing/2014/main" id="{520C8596-671A-C3BD-1ED5-027F131AEAE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271088" y="133190"/>
            <a:ext cx="1135117" cy="1342884"/>
          </a:xfrm>
          <a:prstGeom prst="rect">
            <a:avLst/>
          </a:prstGeom>
          <a:noFill/>
        </p:spPr>
      </p:pic>
      <p:pic>
        <p:nvPicPr>
          <p:cNvPr id="5" name="Picture 4">
            <a:extLst>
              <a:ext uri="{FF2B5EF4-FFF2-40B4-BE49-F238E27FC236}">
                <a16:creationId xmlns:a16="http://schemas.microsoft.com/office/drawing/2014/main" id="{12764C30-447A-17D1-0D8E-F66BFD135A1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33190"/>
            <a:ext cx="1520114" cy="1342884"/>
          </a:xfrm>
          <a:prstGeom prst="rect">
            <a:avLst/>
          </a:prstGeom>
          <a:noFill/>
          <a:ln>
            <a:noFill/>
          </a:ln>
        </p:spPr>
      </p:pic>
      <p:sp>
        <p:nvSpPr>
          <p:cNvPr id="7" name="Rectangle 2">
            <a:extLst>
              <a:ext uri="{FF2B5EF4-FFF2-40B4-BE49-F238E27FC236}">
                <a16:creationId xmlns:a16="http://schemas.microsoft.com/office/drawing/2014/main" id="{1361954D-CD48-B9A7-9DE9-19B27F9AF728}"/>
              </a:ext>
            </a:extLst>
          </p:cNvPr>
          <p:cNvSpPr>
            <a:spLocks noGrp="1" noChangeArrowheads="1"/>
          </p:cNvSpPr>
          <p:nvPr>
            <p:ph idx="1"/>
          </p:nvPr>
        </p:nvSpPr>
        <p:spPr bwMode="auto">
          <a:xfrm>
            <a:off x="357352" y="1534510"/>
            <a:ext cx="11225048"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AU" sz="2000" b="1" dirty="0">
                <a:solidFill>
                  <a:srgbClr val="C00000"/>
                </a:solidFill>
                <a:latin typeface="Times New Roman" panose="02020603050405020304" pitchFamily="18" charset="0"/>
                <a:cs typeface="Times New Roman" panose="02020603050405020304" pitchFamily="18" charset="0"/>
              </a:rPr>
              <a:t>Problem Statement:</a:t>
            </a:r>
          </a:p>
          <a:p>
            <a:pPr algn="just"/>
            <a:r>
              <a:rPr lang="en-IN" sz="2000" dirty="0">
                <a:latin typeface="Times New Roman" panose="02020603050405020304" pitchFamily="18" charset="0"/>
                <a:cs typeface="Times New Roman" panose="02020603050405020304" pitchFamily="18" charset="0"/>
              </a:rPr>
              <a:t>Educational institutions collect large volumes of placement-related data, but the information is often fragmented across multiple systems. This makes it difficult to identify placement trends, evaluate student performance, and predict employability. An integrated Data Warehousing and Data Mining solution is required to transform raw student data into meaningful insights that support academic planning and placement decisions.</a:t>
            </a:r>
          </a:p>
          <a:p>
            <a:pPr marL="0" indent="0" algn="just">
              <a:buNone/>
            </a:pPr>
            <a:br>
              <a:rPr lang="en-AU" sz="2000" b="1" dirty="0">
                <a:solidFill>
                  <a:srgbClr val="C00000"/>
                </a:solidFill>
                <a:latin typeface="Times New Roman" panose="02020603050405020304" pitchFamily="18" charset="0"/>
                <a:cs typeface="Times New Roman" panose="02020603050405020304" pitchFamily="18" charset="0"/>
              </a:rPr>
            </a:br>
            <a:r>
              <a:rPr lang="en-AU" sz="2000" b="1" dirty="0">
                <a:solidFill>
                  <a:srgbClr val="C00000"/>
                </a:solidFill>
                <a:latin typeface="Times New Roman" panose="02020603050405020304" pitchFamily="18" charset="0"/>
                <a:cs typeface="Times New Roman" panose="02020603050405020304" pitchFamily="18" charset="0"/>
              </a:rPr>
              <a:t>Expected Outcomes:</a:t>
            </a:r>
            <a:endParaRPr lang="en-AU" sz="2000" dirty="0">
              <a:solidFill>
                <a:srgbClr val="C00000"/>
              </a:solidFill>
              <a:latin typeface="Times New Roman" panose="02020603050405020304" pitchFamily="18" charset="0"/>
              <a:cs typeface="Times New Roman" panose="02020603050405020304" pitchFamily="18" charset="0"/>
            </a:endParaRPr>
          </a:p>
          <a:p>
            <a:pPr lvl="0"/>
            <a:r>
              <a:rPr lang="en-IN" sz="2000" dirty="0">
                <a:latin typeface="Times New Roman" panose="02020603050405020304" pitchFamily="18" charset="0"/>
                <a:cs typeface="Times New Roman" panose="02020603050405020304" pitchFamily="18" charset="0"/>
              </a:rPr>
              <a:t>Centralized Student Placement Data Warehouse. </a:t>
            </a:r>
          </a:p>
          <a:p>
            <a:pPr lvl="0"/>
            <a:r>
              <a:rPr lang="en-IN" sz="2000" dirty="0">
                <a:latin typeface="Times New Roman" panose="02020603050405020304" pitchFamily="18" charset="0"/>
                <a:cs typeface="Times New Roman" panose="02020603050405020304" pitchFamily="18" charset="0"/>
              </a:rPr>
              <a:t>Accurate placement prediction model. </a:t>
            </a:r>
          </a:p>
          <a:p>
            <a:pPr lvl="0"/>
            <a:r>
              <a:rPr lang="en-IN" sz="2000" dirty="0">
                <a:latin typeface="Times New Roman" panose="02020603050405020304" pitchFamily="18" charset="0"/>
                <a:cs typeface="Times New Roman" panose="02020603050405020304" pitchFamily="18" charset="0"/>
              </a:rPr>
              <a:t>Student segmentation based on placement readiness. </a:t>
            </a:r>
          </a:p>
          <a:p>
            <a:pPr lvl="0"/>
            <a:r>
              <a:rPr lang="en-IN" sz="2000" dirty="0">
                <a:latin typeface="Times New Roman" panose="02020603050405020304" pitchFamily="18" charset="0"/>
                <a:cs typeface="Times New Roman" panose="02020603050405020304" pitchFamily="18" charset="0"/>
              </a:rPr>
              <a:t>Identification of factors influencing placement. </a:t>
            </a:r>
          </a:p>
          <a:p>
            <a:pPr lvl="0"/>
            <a:r>
              <a:rPr lang="en-IN" sz="2000" dirty="0">
                <a:latin typeface="Times New Roman" panose="02020603050405020304" pitchFamily="18" charset="0"/>
                <a:cs typeface="Times New Roman" panose="02020603050405020304" pitchFamily="18" charset="0"/>
              </a:rPr>
              <a:t>Interactive Power BI dashboards for real-time analysis. </a:t>
            </a:r>
          </a:p>
          <a:p>
            <a:pPr lvl="0"/>
            <a:r>
              <a:rPr lang="en-IN" sz="2000" dirty="0">
                <a:latin typeface="Times New Roman" panose="02020603050405020304" pitchFamily="18" charset="0"/>
                <a:cs typeface="Times New Roman" panose="02020603050405020304" pitchFamily="18" charset="0"/>
              </a:rPr>
              <a:t>Improved decision-making for students and placement coordinators.</a:t>
            </a:r>
          </a:p>
        </p:txBody>
      </p:sp>
    </p:spTree>
    <p:extLst>
      <p:ext uri="{BB962C8B-B14F-4D97-AF65-F5344CB8AC3E}">
        <p14:creationId xmlns:p14="http://schemas.microsoft.com/office/powerpoint/2010/main" val="3589178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660F1-B0F1-AFB8-018B-876C417306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36384-F87D-714B-6804-2018C613B94C}"/>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LITERATURE REVIEW</a:t>
            </a:r>
            <a:endParaRPr lang="en-AU"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3CD7AB7-9BD5-111D-DCA0-7075B6FFDA2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28E01732-844D-6344-3FEB-0C7F0A499D9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graphicFrame>
        <p:nvGraphicFramePr>
          <p:cNvPr id="3" name="Table 2">
            <a:extLst>
              <a:ext uri="{FF2B5EF4-FFF2-40B4-BE49-F238E27FC236}">
                <a16:creationId xmlns:a16="http://schemas.microsoft.com/office/drawing/2014/main" id="{941BB978-EB6B-4E61-5E52-AF73D0ED0BB2}"/>
              </a:ext>
            </a:extLst>
          </p:cNvPr>
          <p:cNvGraphicFramePr>
            <a:graphicFrameLocks noGrp="1"/>
          </p:cNvGraphicFramePr>
          <p:nvPr>
            <p:extLst>
              <p:ext uri="{D42A27DB-BD31-4B8C-83A1-F6EECF244321}">
                <p14:modId xmlns:p14="http://schemas.microsoft.com/office/powerpoint/2010/main" val="3028676308"/>
              </p:ext>
            </p:extLst>
          </p:nvPr>
        </p:nvGraphicFramePr>
        <p:xfrm>
          <a:off x="1932317" y="1492023"/>
          <a:ext cx="8581916" cy="4943283"/>
        </p:xfrm>
        <a:graphic>
          <a:graphicData uri="http://schemas.openxmlformats.org/drawingml/2006/table">
            <a:tbl>
              <a:tblPr firstRow="1">
                <a:tableStyleId>{3C2FFA5D-87B4-456A-9821-1D502468CF0F}</a:tableStyleId>
              </a:tblPr>
              <a:tblGrid>
                <a:gridCol w="2145479">
                  <a:extLst>
                    <a:ext uri="{9D8B030D-6E8A-4147-A177-3AD203B41FA5}">
                      <a16:colId xmlns:a16="http://schemas.microsoft.com/office/drawing/2014/main" val="3111123048"/>
                    </a:ext>
                  </a:extLst>
                </a:gridCol>
                <a:gridCol w="2145479">
                  <a:extLst>
                    <a:ext uri="{9D8B030D-6E8A-4147-A177-3AD203B41FA5}">
                      <a16:colId xmlns:a16="http://schemas.microsoft.com/office/drawing/2014/main" val="2241641922"/>
                    </a:ext>
                  </a:extLst>
                </a:gridCol>
                <a:gridCol w="2145479">
                  <a:extLst>
                    <a:ext uri="{9D8B030D-6E8A-4147-A177-3AD203B41FA5}">
                      <a16:colId xmlns:a16="http://schemas.microsoft.com/office/drawing/2014/main" val="2033728693"/>
                    </a:ext>
                  </a:extLst>
                </a:gridCol>
                <a:gridCol w="2145479">
                  <a:extLst>
                    <a:ext uri="{9D8B030D-6E8A-4147-A177-3AD203B41FA5}">
                      <a16:colId xmlns:a16="http://schemas.microsoft.com/office/drawing/2014/main" val="839107579"/>
                    </a:ext>
                  </a:extLst>
                </a:gridCol>
              </a:tblGrid>
              <a:tr h="383956">
                <a:tc>
                  <a:txBody>
                    <a:bodyPr/>
                    <a:lstStyle/>
                    <a:p>
                      <a:pPr>
                        <a:buNone/>
                      </a:pPr>
                      <a:r>
                        <a:rPr lang="en-IN" sz="1000" b="1"/>
                        <a:t>Author(s) &amp; Year</a:t>
                      </a:r>
                      <a:endParaRPr lang="en-IN" sz="1000"/>
                    </a:p>
                  </a:txBody>
                  <a:tcPr marL="50288" marR="50288" marT="25144" marB="25144" anchor="ctr"/>
                </a:tc>
                <a:tc>
                  <a:txBody>
                    <a:bodyPr/>
                    <a:lstStyle/>
                    <a:p>
                      <a:pPr>
                        <a:buNone/>
                      </a:pPr>
                      <a:r>
                        <a:rPr lang="en-IN" sz="1000" b="1"/>
                        <a:t>Methodology</a:t>
                      </a:r>
                      <a:endParaRPr lang="en-IN" sz="1000"/>
                    </a:p>
                  </a:txBody>
                  <a:tcPr marL="50288" marR="50288" marT="25144" marB="25144" anchor="ctr"/>
                </a:tc>
                <a:tc>
                  <a:txBody>
                    <a:bodyPr/>
                    <a:lstStyle/>
                    <a:p>
                      <a:pPr>
                        <a:buNone/>
                      </a:pPr>
                      <a:r>
                        <a:rPr lang="en-IN" sz="1000" b="1"/>
                        <a:t>Key Findings</a:t>
                      </a:r>
                      <a:endParaRPr lang="en-IN" sz="1000"/>
                    </a:p>
                  </a:txBody>
                  <a:tcPr marL="50288" marR="50288" marT="25144" marB="25144" anchor="ctr"/>
                </a:tc>
                <a:tc>
                  <a:txBody>
                    <a:bodyPr/>
                    <a:lstStyle/>
                    <a:p>
                      <a:pPr>
                        <a:buNone/>
                      </a:pPr>
                      <a:r>
                        <a:rPr lang="en-IN" sz="1000" b="1"/>
                        <a:t>Research Gap / Contribution</a:t>
                      </a:r>
                      <a:endParaRPr lang="en-IN" sz="1000"/>
                    </a:p>
                  </a:txBody>
                  <a:tcPr marL="50288" marR="50288" marT="25144" marB="25144" anchor="ctr"/>
                </a:tc>
                <a:extLst>
                  <a:ext uri="{0D108BD9-81ED-4DB2-BD59-A6C34878D82A}">
                    <a16:rowId xmlns:a16="http://schemas.microsoft.com/office/drawing/2014/main" val="712875361"/>
                  </a:ext>
                </a:extLst>
              </a:tr>
              <a:tr h="1042169">
                <a:tc>
                  <a:txBody>
                    <a:bodyPr/>
                    <a:lstStyle/>
                    <a:p>
                      <a:pPr>
                        <a:buNone/>
                      </a:pPr>
                      <a:r>
                        <a:rPr lang="en-IN" sz="1000" b="1"/>
                        <a:t>Yağcı (2022)</a:t>
                      </a:r>
                      <a:endParaRPr lang="en-IN" sz="1000"/>
                    </a:p>
                  </a:txBody>
                  <a:tcPr marL="50288" marR="50288" marT="25144" marB="25144" anchor="ctr"/>
                </a:tc>
                <a:tc>
                  <a:txBody>
                    <a:bodyPr/>
                    <a:lstStyle/>
                    <a:p>
                      <a:pPr>
                        <a:buNone/>
                      </a:pPr>
                      <a:r>
                        <a:rPr lang="en-IN" sz="1000"/>
                        <a:t>Educational Data Mining using Machine Learning</a:t>
                      </a:r>
                    </a:p>
                  </a:txBody>
                  <a:tcPr marL="50288" marR="50288" marT="25144" marB="25144" anchor="ctr"/>
                </a:tc>
                <a:tc>
                  <a:txBody>
                    <a:bodyPr/>
                    <a:lstStyle/>
                    <a:p>
                      <a:pPr>
                        <a:buNone/>
                      </a:pPr>
                      <a:r>
                        <a:rPr lang="en-IN" sz="1000" dirty="0"/>
                        <a:t>Demonstrated that machine learning models effectively predict student academic performance using educational datasets.</a:t>
                      </a:r>
                    </a:p>
                  </a:txBody>
                  <a:tcPr marL="50288" marR="50288" marT="25144" marB="25144" anchor="ctr"/>
                </a:tc>
                <a:tc>
                  <a:txBody>
                    <a:bodyPr/>
                    <a:lstStyle/>
                    <a:p>
                      <a:pPr>
                        <a:buNone/>
                      </a:pPr>
                      <a:r>
                        <a:rPr lang="en-IN" sz="1000"/>
                        <a:t>Focused on academic performance prediction; did not integrate data warehousing or business intelligence dashboards. (</a:t>
                      </a:r>
                      <a:r>
                        <a:rPr lang="en-IN" sz="1000">
                          <a:hlinkClick r:id="rId4" tooltip="Educational data mining: prediction of students' academic performance using machine learning algorithms | Smart Learning Environments | Springer Nature Link"/>
                        </a:rPr>
                        <a:t>Springer</a:t>
                      </a:r>
                      <a:r>
                        <a:rPr lang="en-IN" sz="1000"/>
                        <a:t>)</a:t>
                      </a:r>
                    </a:p>
                  </a:txBody>
                  <a:tcPr marL="50288" marR="50288" marT="25144" marB="25144" anchor="ctr"/>
                </a:tc>
                <a:extLst>
                  <a:ext uri="{0D108BD9-81ED-4DB2-BD59-A6C34878D82A}">
                    <a16:rowId xmlns:a16="http://schemas.microsoft.com/office/drawing/2014/main" val="4197345550"/>
                  </a:ext>
                </a:extLst>
              </a:tr>
              <a:tr h="713063">
                <a:tc>
                  <a:txBody>
                    <a:bodyPr/>
                    <a:lstStyle/>
                    <a:p>
                      <a:pPr>
                        <a:buNone/>
                      </a:pPr>
                      <a:r>
                        <a:rPr lang="en-IN" sz="1000" b="1"/>
                        <a:t>Bilal et al. (2022)</a:t>
                      </a:r>
                      <a:endParaRPr lang="en-IN" sz="1000"/>
                    </a:p>
                  </a:txBody>
                  <a:tcPr marL="50288" marR="50288" marT="25144" marB="25144" anchor="ctr"/>
                </a:tc>
                <a:tc>
                  <a:txBody>
                    <a:bodyPr/>
                    <a:lstStyle/>
                    <a:p>
                      <a:pPr>
                        <a:buNone/>
                      </a:pPr>
                      <a:r>
                        <a:rPr lang="en-IN" sz="1000"/>
                        <a:t>Feature Analysis with Machine Learning</a:t>
                      </a:r>
                    </a:p>
                  </a:txBody>
                  <a:tcPr marL="50288" marR="50288" marT="25144" marB="25144" anchor="ctr"/>
                </a:tc>
                <a:tc>
                  <a:txBody>
                    <a:bodyPr/>
                    <a:lstStyle/>
                    <a:p>
                      <a:pPr>
                        <a:buNone/>
                      </a:pPr>
                      <a:r>
                        <a:rPr lang="en-IN" sz="1000"/>
                        <a:t>Showed that demographic and academic attributes significantly influence prediction accuracy.</a:t>
                      </a:r>
                    </a:p>
                  </a:txBody>
                  <a:tcPr marL="50288" marR="50288" marT="25144" marB="25144" anchor="ctr"/>
                </a:tc>
                <a:tc>
                  <a:txBody>
                    <a:bodyPr/>
                    <a:lstStyle/>
                    <a:p>
                      <a:pPr>
                        <a:buNone/>
                      </a:pPr>
                      <a:r>
                        <a:rPr lang="en-IN" sz="1000"/>
                        <a:t>Did not include placement analytics or visualization using Power BI. (</a:t>
                      </a:r>
                      <a:r>
                        <a:rPr lang="en-IN" sz="1000">
                          <a:hlinkClick r:id="rId5" tooltip="The role of demographic and academic features in a student performance prediction | Scientific Reports"/>
                        </a:rPr>
                        <a:t>Nature</a:t>
                      </a:r>
                      <a:r>
                        <a:rPr lang="en-IN" sz="1000"/>
                        <a:t>)</a:t>
                      </a:r>
                    </a:p>
                  </a:txBody>
                  <a:tcPr marL="50288" marR="50288" marT="25144" marB="25144" anchor="ctr"/>
                </a:tc>
                <a:extLst>
                  <a:ext uri="{0D108BD9-81ED-4DB2-BD59-A6C34878D82A}">
                    <a16:rowId xmlns:a16="http://schemas.microsoft.com/office/drawing/2014/main" val="1836635641"/>
                  </a:ext>
                </a:extLst>
              </a:tr>
              <a:tr h="719757">
                <a:tc>
                  <a:txBody>
                    <a:bodyPr/>
                    <a:lstStyle/>
                    <a:p>
                      <a:pPr>
                        <a:buNone/>
                      </a:pPr>
                      <a:r>
                        <a:rPr lang="en-IN" sz="1000" b="1"/>
                        <a:t>Khairy et al. (2024)</a:t>
                      </a:r>
                      <a:endParaRPr lang="en-IN" sz="1000"/>
                    </a:p>
                  </a:txBody>
                  <a:tcPr marL="50288" marR="50288" marT="25144" marB="25144" anchor="ctr"/>
                </a:tc>
                <a:tc>
                  <a:txBody>
                    <a:bodyPr/>
                    <a:lstStyle/>
                    <a:p>
                      <a:pPr>
                        <a:buNone/>
                      </a:pPr>
                      <a:r>
                        <a:rPr lang="en-IN" sz="1000"/>
                        <a:t>Classification Algorithms (Decision Tree, Random Forest, Naïve Bayes, KNN, Neural Networks)</a:t>
                      </a:r>
                    </a:p>
                  </a:txBody>
                  <a:tcPr marL="50288" marR="50288" marT="25144" marB="25144" anchor="ctr"/>
                </a:tc>
                <a:tc>
                  <a:txBody>
                    <a:bodyPr/>
                    <a:lstStyle/>
                    <a:p>
                      <a:pPr>
                        <a:buNone/>
                      </a:pPr>
                      <a:r>
                        <a:rPr lang="en-IN" sz="1000"/>
                        <a:t>Random Forest and Decision Tree achieved high accuracy in predicting student performance.</a:t>
                      </a:r>
                    </a:p>
                  </a:txBody>
                  <a:tcPr marL="50288" marR="50288" marT="25144" marB="25144" anchor="ctr"/>
                </a:tc>
                <a:tc>
                  <a:txBody>
                    <a:bodyPr/>
                    <a:lstStyle/>
                    <a:p>
                      <a:pPr>
                        <a:buNone/>
                      </a:pPr>
                      <a:r>
                        <a:rPr lang="en-IN" sz="1000"/>
                        <a:t>Focused on examination performance rather than employability or placement prediction. (</a:t>
                      </a:r>
                      <a:r>
                        <a:rPr lang="en-IN" sz="1000">
                          <a:hlinkClick r:id="rId6" tooltip="Prediction of student exam performance using data mining classification algorithms | Education and Information Technologies | Springer Nature Link"/>
                        </a:rPr>
                        <a:t>Springer</a:t>
                      </a:r>
                      <a:r>
                        <a:rPr lang="en-IN" sz="1000"/>
                        <a:t>)</a:t>
                      </a:r>
                    </a:p>
                  </a:txBody>
                  <a:tcPr marL="50288" marR="50288" marT="25144" marB="25144" anchor="ctr"/>
                </a:tc>
                <a:extLst>
                  <a:ext uri="{0D108BD9-81ED-4DB2-BD59-A6C34878D82A}">
                    <a16:rowId xmlns:a16="http://schemas.microsoft.com/office/drawing/2014/main" val="2941572291"/>
                  </a:ext>
                </a:extLst>
              </a:tr>
              <a:tr h="877616">
                <a:tc>
                  <a:txBody>
                    <a:bodyPr/>
                    <a:lstStyle/>
                    <a:p>
                      <a:pPr>
                        <a:buNone/>
                      </a:pPr>
                      <a:r>
                        <a:rPr lang="en-IN" sz="1000" b="1"/>
                        <a:t>Ahmed et al. (2024)</a:t>
                      </a:r>
                      <a:endParaRPr lang="en-IN" sz="1000"/>
                    </a:p>
                  </a:txBody>
                  <a:tcPr marL="50288" marR="50288" marT="25144" marB="25144" anchor="ctr"/>
                </a:tc>
                <a:tc>
                  <a:txBody>
                    <a:bodyPr/>
                    <a:lstStyle/>
                    <a:p>
                      <a:pPr>
                        <a:buNone/>
                      </a:pPr>
                      <a:r>
                        <a:rPr lang="en-IN" sz="1000"/>
                        <a:t>Decision Tree-based Educational Data Mining</a:t>
                      </a:r>
                    </a:p>
                  </a:txBody>
                  <a:tcPr marL="50288" marR="50288" marT="25144" marB="25144" anchor="ctr"/>
                </a:tc>
                <a:tc>
                  <a:txBody>
                    <a:bodyPr/>
                    <a:lstStyle/>
                    <a:p>
                      <a:pPr>
                        <a:buNone/>
                      </a:pPr>
                      <a:r>
                        <a:rPr lang="en-IN" sz="1000"/>
                        <a:t>Decision Tree effectively identified influential academic and demographic factors affecting student outcomes.</a:t>
                      </a:r>
                    </a:p>
                  </a:txBody>
                  <a:tcPr marL="50288" marR="50288" marT="25144" marB="25144" anchor="ctr"/>
                </a:tc>
                <a:tc>
                  <a:txBody>
                    <a:bodyPr/>
                    <a:lstStyle/>
                    <a:p>
                      <a:pPr>
                        <a:buNone/>
                      </a:pPr>
                      <a:r>
                        <a:rPr lang="en-IN" sz="1000"/>
                        <a:t>Does not provide an integrated Data Warehouse, ETL process, or interactive reporting. (</a:t>
                      </a:r>
                      <a:r>
                        <a:rPr lang="en-IN" sz="1000">
                          <a:hlinkClick r:id="rId7" tooltip="Students' performance prediction employing Decision Tree - University of Southern Denmark"/>
                        </a:rPr>
                        <a:t>Syddansk Universitet</a:t>
                      </a:r>
                      <a:r>
                        <a:rPr lang="en-IN" sz="1000"/>
                        <a:t>)</a:t>
                      </a:r>
                    </a:p>
                  </a:txBody>
                  <a:tcPr marL="50288" marR="50288" marT="25144" marB="25144" anchor="ctr"/>
                </a:tc>
                <a:extLst>
                  <a:ext uri="{0D108BD9-81ED-4DB2-BD59-A6C34878D82A}">
                    <a16:rowId xmlns:a16="http://schemas.microsoft.com/office/drawing/2014/main" val="1191265675"/>
                  </a:ext>
                </a:extLst>
              </a:tr>
              <a:tr h="1206722">
                <a:tc>
                  <a:txBody>
                    <a:bodyPr/>
                    <a:lstStyle/>
                    <a:p>
                      <a:pPr>
                        <a:buNone/>
                      </a:pPr>
                      <a:r>
                        <a:rPr lang="en-IN" sz="1000" b="1"/>
                        <a:t>Proposed System (2026)</a:t>
                      </a:r>
                      <a:endParaRPr lang="en-IN" sz="1000"/>
                    </a:p>
                  </a:txBody>
                  <a:tcPr marL="50288" marR="50288" marT="25144" marB="25144" anchor="ctr"/>
                </a:tc>
                <a:tc>
                  <a:txBody>
                    <a:bodyPr/>
                    <a:lstStyle/>
                    <a:p>
                      <a:pPr>
                        <a:buNone/>
                      </a:pPr>
                      <a:r>
                        <a:rPr lang="en-IN" sz="1000" b="1"/>
                        <a:t>ETL + Data Warehouse + Decision Tree + K-Means + Apriori + Power BI</a:t>
                      </a:r>
                      <a:endParaRPr lang="en-IN" sz="1000"/>
                    </a:p>
                  </a:txBody>
                  <a:tcPr marL="50288" marR="50288" marT="25144" marB="25144" anchor="ctr"/>
                </a:tc>
                <a:tc>
                  <a:txBody>
                    <a:bodyPr/>
                    <a:lstStyle/>
                    <a:p>
                      <a:pPr>
                        <a:buNone/>
                      </a:pPr>
                      <a:r>
                        <a:rPr lang="en-IN" sz="1000"/>
                        <a:t>Integrates data warehousing, data mining, and business intelligence for student placement prediction and analytics.</a:t>
                      </a:r>
                    </a:p>
                  </a:txBody>
                  <a:tcPr marL="50288" marR="50288" marT="25144" marB="25144" anchor="ctr"/>
                </a:tc>
                <a:tc>
                  <a:txBody>
                    <a:bodyPr/>
                    <a:lstStyle/>
                    <a:p>
                      <a:pPr>
                        <a:buNone/>
                      </a:pPr>
                      <a:r>
                        <a:rPr lang="en-IN" sz="1000" dirty="0"/>
                        <a:t>Provides an end-to-end decision support system with centralized storage, predictive analytics, clustering, association rules, and interactive dashboards.</a:t>
                      </a:r>
                    </a:p>
                  </a:txBody>
                  <a:tcPr marL="50288" marR="50288" marT="25144" marB="25144" anchor="ctr"/>
                </a:tc>
                <a:extLst>
                  <a:ext uri="{0D108BD9-81ED-4DB2-BD59-A6C34878D82A}">
                    <a16:rowId xmlns:a16="http://schemas.microsoft.com/office/drawing/2014/main" val="3003872772"/>
                  </a:ext>
                </a:extLst>
              </a:tr>
            </a:tbl>
          </a:graphicData>
        </a:graphic>
      </p:graphicFrame>
    </p:spTree>
    <p:extLst>
      <p:ext uri="{BB962C8B-B14F-4D97-AF65-F5344CB8AC3E}">
        <p14:creationId xmlns:p14="http://schemas.microsoft.com/office/powerpoint/2010/main" val="718047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pPr>
              <a:lnSpc>
                <a:spcPct val="120000"/>
              </a:lnSpc>
            </a:pPr>
            <a:r>
              <a:rPr lang="en-AU" sz="4000" b="1" dirty="0">
                <a:latin typeface="Times New Roman" panose="02020603050405020304" pitchFamily="18" charset="0"/>
                <a:cs typeface="Times New Roman" panose="02020603050405020304" pitchFamily="18" charset="0"/>
              </a:rPr>
              <a:t>ARCHITECTURE DIAGRAM</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pic>
        <p:nvPicPr>
          <p:cNvPr id="6" name="Picture 5">
            <a:extLst>
              <a:ext uri="{FF2B5EF4-FFF2-40B4-BE49-F238E27FC236}">
                <a16:creationId xmlns:a16="http://schemas.microsoft.com/office/drawing/2014/main" id="{A7126532-6C59-CDBD-D573-31C6F300BB52}"/>
              </a:ext>
            </a:extLst>
          </p:cNvPr>
          <p:cNvPicPr>
            <a:picLocks noChangeAspect="1"/>
          </p:cNvPicPr>
          <p:nvPr/>
        </p:nvPicPr>
        <p:blipFill>
          <a:blip r:embed="rId4"/>
          <a:srcRect t="13221"/>
          <a:stretch>
            <a:fillRect/>
          </a:stretch>
        </p:blipFill>
        <p:spPr>
          <a:xfrm>
            <a:off x="1744716" y="1302587"/>
            <a:ext cx="9228083" cy="533869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LIST OF MODULES</a:t>
            </a:r>
          </a:p>
        </p:txBody>
      </p:sp>
      <p:sp>
        <p:nvSpPr>
          <p:cNvPr id="3" name="Content Placeholder 2"/>
          <p:cNvSpPr>
            <a:spLocks noGrp="1"/>
          </p:cNvSpPr>
          <p:nvPr>
            <p:ph idx="1"/>
          </p:nvPr>
        </p:nvSpPr>
        <p:spPr>
          <a:xfrm>
            <a:off x="707365" y="1741714"/>
            <a:ext cx="10368951" cy="4702218"/>
          </a:xfrm>
        </p:spPr>
        <p:txBody>
          <a:bodyPr>
            <a:noAutofit/>
          </a:bodyPr>
          <a:lstStyle/>
          <a:p>
            <a:pPr marL="0" indent="269875">
              <a:lnSpc>
                <a:spcPct val="120000"/>
              </a:lnSpc>
              <a:spcBef>
                <a:spcPts val="600"/>
              </a:spcBef>
              <a:buNone/>
            </a:pPr>
            <a:endParaRPr lang="en-GB" dirty="0">
              <a:latin typeface="Times New Roman" panose="02020603050405020304" pitchFamily="18" charset="0"/>
              <a:cs typeface="Times New Roman" panose="02020603050405020304" pitchFamily="18" charset="0"/>
            </a:endParaRPr>
          </a:p>
          <a:p>
            <a:pPr marL="0" indent="269875">
              <a:lnSpc>
                <a:spcPct val="120000"/>
              </a:lnSpc>
              <a:spcBef>
                <a:spcPts val="600"/>
              </a:spcBef>
              <a:buNone/>
            </a:pPr>
            <a:r>
              <a:rPr lang="en-GB" b="1" dirty="0">
                <a:solidFill>
                  <a:schemeClr val="accent6">
                    <a:lumMod val="75000"/>
                  </a:schemeClr>
                </a:solidFill>
                <a:latin typeface="Times New Roman" panose="02020603050405020304" pitchFamily="18" charset="0"/>
                <a:cs typeface="Times New Roman" panose="02020603050405020304" pitchFamily="18" charset="0"/>
              </a:rPr>
              <a:t>Module 1:</a:t>
            </a:r>
            <a:r>
              <a:rPr lang="en-GB"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Data Collection &amp; ETL</a:t>
            </a:r>
          </a:p>
          <a:p>
            <a:pPr marL="0" indent="269875">
              <a:lnSpc>
                <a:spcPct val="120000"/>
              </a:lnSpc>
              <a:spcBef>
                <a:spcPts val="600"/>
              </a:spcBef>
              <a:buNone/>
            </a:pPr>
            <a:r>
              <a:rPr lang="en-GB" b="1" dirty="0">
                <a:solidFill>
                  <a:schemeClr val="accent5">
                    <a:lumMod val="75000"/>
                  </a:schemeClr>
                </a:solidFill>
                <a:latin typeface="Times New Roman" panose="02020603050405020304" pitchFamily="18" charset="0"/>
                <a:cs typeface="Times New Roman" panose="02020603050405020304" pitchFamily="18" charset="0"/>
              </a:rPr>
              <a:t>Module 2: </a:t>
            </a:r>
            <a:r>
              <a:rPr lang="en-IN" dirty="0">
                <a:latin typeface="Times New Roman" panose="02020603050405020304" pitchFamily="18" charset="0"/>
                <a:cs typeface="Times New Roman" panose="02020603050405020304" pitchFamily="18" charset="0"/>
              </a:rPr>
              <a:t>Data Warehouse Design</a:t>
            </a:r>
            <a:endParaRPr lang="en-GB" dirty="0">
              <a:latin typeface="Times New Roman" panose="02020603050405020304" pitchFamily="18" charset="0"/>
              <a:cs typeface="Times New Roman" panose="02020603050405020304" pitchFamily="18" charset="0"/>
            </a:endParaRPr>
          </a:p>
          <a:p>
            <a:pPr marL="0" indent="269875">
              <a:lnSpc>
                <a:spcPct val="120000"/>
              </a:lnSpc>
              <a:spcBef>
                <a:spcPts val="600"/>
              </a:spcBef>
              <a:buNone/>
            </a:pPr>
            <a:r>
              <a:rPr lang="en-GB" b="1" dirty="0">
                <a:solidFill>
                  <a:schemeClr val="accent4">
                    <a:lumMod val="75000"/>
                  </a:schemeClr>
                </a:solidFill>
                <a:latin typeface="Times New Roman" panose="02020603050405020304" pitchFamily="18" charset="0"/>
                <a:cs typeface="Times New Roman" panose="02020603050405020304" pitchFamily="18" charset="0"/>
              </a:rPr>
              <a:t>Module 3:</a:t>
            </a:r>
            <a:r>
              <a:rPr lang="en-GB"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Data Mining &amp; Placement Prediction</a:t>
            </a:r>
          </a:p>
          <a:p>
            <a:pPr marL="0" indent="269875">
              <a:lnSpc>
                <a:spcPct val="120000"/>
              </a:lnSpc>
              <a:spcBef>
                <a:spcPts val="600"/>
              </a:spcBef>
              <a:buNone/>
            </a:pPr>
            <a:r>
              <a:rPr lang="en-GB" b="1" dirty="0">
                <a:solidFill>
                  <a:srgbClr val="00B050"/>
                </a:solidFill>
                <a:latin typeface="Times New Roman" panose="02020603050405020304" pitchFamily="18" charset="0"/>
                <a:cs typeface="Times New Roman" panose="02020603050405020304" pitchFamily="18" charset="0"/>
              </a:rPr>
              <a:t>Module 4:</a:t>
            </a:r>
            <a:r>
              <a:rPr lang="en-GB"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Analytics &amp; Power BI Dashboard</a:t>
            </a:r>
          </a:p>
          <a:p>
            <a:pPr marL="0" indent="269875">
              <a:lnSpc>
                <a:spcPct val="120000"/>
              </a:lnSpc>
              <a:spcBef>
                <a:spcPts val="600"/>
              </a:spcBef>
              <a:buNone/>
            </a:pPr>
            <a:r>
              <a:rPr lang="en-GB" b="1" dirty="0">
                <a:solidFill>
                  <a:schemeClr val="accent2">
                    <a:lumMod val="75000"/>
                  </a:schemeClr>
                </a:solidFill>
                <a:latin typeface="Times New Roman" panose="02020603050405020304" pitchFamily="18" charset="0"/>
                <a:cs typeface="Times New Roman" panose="02020603050405020304" pitchFamily="18" charset="0"/>
              </a:rPr>
              <a:t>Module 5: </a:t>
            </a:r>
            <a:r>
              <a:rPr lang="en-IN" dirty="0">
                <a:latin typeface="Times New Roman" panose="02020603050405020304" pitchFamily="18" charset="0"/>
                <a:cs typeface="Times New Roman" panose="02020603050405020304" pitchFamily="18" charset="0"/>
              </a:rPr>
              <a:t>Web Application &amp; Reporting</a:t>
            </a:r>
          </a:p>
          <a:p>
            <a:pPr marL="0" indent="269875">
              <a:lnSpc>
                <a:spcPct val="120000"/>
              </a:lnSpc>
              <a:spcBef>
                <a:spcPts val="600"/>
              </a:spcBef>
              <a:buNone/>
            </a:pPr>
            <a:endParaRPr lang="en-GB"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A83BF-9A18-EFF3-359D-566357A33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692ED-E318-9C52-EFC3-DE5D321D7C39}"/>
              </a:ext>
            </a:extLst>
          </p:cNvPr>
          <p:cNvSpPr>
            <a:spLocks noGrp="1"/>
          </p:cNvSpPr>
          <p:nvPr>
            <p:ph type="title"/>
          </p:nvPr>
        </p:nvSpPr>
        <p:spPr>
          <a:xfrm>
            <a:off x="609600" y="274638"/>
            <a:ext cx="10972800" cy="1143000"/>
          </a:xfrm>
        </p:spPr>
        <p:txBody>
          <a:bodyPr>
            <a:normAutofit/>
          </a:bodyPr>
          <a:lstStyle/>
          <a:p>
            <a:pPr>
              <a:lnSpc>
                <a:spcPct val="120000"/>
              </a:lnSpc>
            </a:pPr>
            <a:r>
              <a:rPr lang="en-IN" sz="4000" dirty="0">
                <a:latin typeface="Times New Roman" panose="02020603050405020304" pitchFamily="18" charset="0"/>
                <a:cs typeface="Times New Roman" panose="02020603050405020304" pitchFamily="18" charset="0"/>
              </a:rPr>
              <a:t>Module 1: Data Collection &amp; ETL</a:t>
            </a:r>
            <a:endParaRPr lang="en-AU"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BA24FE2-1D9B-9449-89CF-05DD6A2897E1}"/>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D09D3FD2-BFEE-DBE5-68FF-99D1E28703B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3" name="TextBox 2">
            <a:extLst>
              <a:ext uri="{FF2B5EF4-FFF2-40B4-BE49-F238E27FC236}">
                <a16:creationId xmlns:a16="http://schemas.microsoft.com/office/drawing/2014/main" id="{0A18F22B-8284-029E-E51C-DF7645654016}"/>
              </a:ext>
            </a:extLst>
          </p:cNvPr>
          <p:cNvSpPr txBox="1"/>
          <p:nvPr/>
        </p:nvSpPr>
        <p:spPr>
          <a:xfrm>
            <a:off x="357352" y="1846052"/>
            <a:ext cx="5852160" cy="489364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Function</a:t>
            </a:r>
            <a:endParaRPr lang="en-IN" sz="24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Import the student placement dataset from Excel/CSV. </a:t>
            </a:r>
          </a:p>
          <a:p>
            <a:pPr marL="285750" lvl="0" indent="-28575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the available attributes and data types. </a:t>
            </a:r>
          </a:p>
          <a:p>
            <a:pPr marL="285750" lvl="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Remove duplicate records. </a:t>
            </a:r>
          </a:p>
          <a:p>
            <a:pPr marL="285750" lvl="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Handle missing and inconsistent values. </a:t>
            </a:r>
          </a:p>
          <a:p>
            <a:pPr marL="285750" lvl="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Transform and standardize the data. </a:t>
            </a:r>
          </a:p>
          <a:p>
            <a:pPr marL="285750" lvl="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Prepare clean data for the data warehouse. </a:t>
            </a:r>
          </a:p>
          <a:p>
            <a:pPr marL="285750" lvl="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Load the processed data into MySQL.</a:t>
            </a:r>
          </a:p>
          <a:p>
            <a:pPr marL="285750" lvl="0" indent="-28575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lvl="0"/>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D3450D7-22A2-C2D9-F2EA-55F13D78451C}"/>
              </a:ext>
            </a:extLst>
          </p:cNvPr>
          <p:cNvSpPr txBox="1"/>
          <p:nvPr/>
        </p:nvSpPr>
        <p:spPr>
          <a:xfrm>
            <a:off x="6858000" y="1846052"/>
            <a:ext cx="5852160" cy="2308324"/>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Technologies Used</a:t>
            </a:r>
            <a:endParaRPr lang="en-IN" sz="2400" dirty="0">
              <a:latin typeface="Times New Roman" panose="02020603050405020304" pitchFamily="18" charset="0"/>
              <a:cs typeface="Times New Roman" panose="02020603050405020304" pitchFamily="18" charset="0"/>
            </a:endParaRPr>
          </a:p>
          <a:p>
            <a:pPr lvl="0"/>
            <a:r>
              <a:rPr lang="en-IN" sz="2400" b="1" dirty="0">
                <a:latin typeface="Times New Roman" panose="02020603050405020304" pitchFamily="18" charset="0"/>
                <a:cs typeface="Times New Roman" panose="02020603050405020304" pitchFamily="18" charset="0"/>
              </a:rPr>
              <a:t>Python</a:t>
            </a:r>
            <a:r>
              <a:rPr lang="en-IN" sz="2400" dirty="0">
                <a:latin typeface="Times New Roman" panose="02020603050405020304" pitchFamily="18" charset="0"/>
                <a:cs typeface="Times New Roman" panose="02020603050405020304" pitchFamily="18" charset="0"/>
              </a:rPr>
              <a:t> – ETL implementation </a:t>
            </a:r>
          </a:p>
          <a:p>
            <a:pPr lvl="0"/>
            <a:r>
              <a:rPr lang="en-IN" sz="2400" b="1" dirty="0">
                <a:latin typeface="Times New Roman" panose="02020603050405020304" pitchFamily="18" charset="0"/>
                <a:cs typeface="Times New Roman" panose="02020603050405020304" pitchFamily="18" charset="0"/>
              </a:rPr>
              <a:t>Pandas</a:t>
            </a:r>
            <a:r>
              <a:rPr lang="en-IN" sz="2400" dirty="0">
                <a:latin typeface="Times New Roman" panose="02020603050405020304" pitchFamily="18" charset="0"/>
                <a:cs typeface="Times New Roman" panose="02020603050405020304" pitchFamily="18" charset="0"/>
              </a:rPr>
              <a:t> – Data loading and cleaning </a:t>
            </a:r>
          </a:p>
          <a:p>
            <a:pPr lvl="0"/>
            <a:r>
              <a:rPr lang="en-IN" sz="2400" b="1" dirty="0">
                <a:latin typeface="Times New Roman" panose="02020603050405020304" pitchFamily="18" charset="0"/>
                <a:cs typeface="Times New Roman" panose="02020603050405020304" pitchFamily="18" charset="0"/>
              </a:rPr>
              <a:t>NumPy</a:t>
            </a:r>
            <a:r>
              <a:rPr lang="en-IN" sz="2400" dirty="0">
                <a:latin typeface="Times New Roman" panose="02020603050405020304" pitchFamily="18" charset="0"/>
                <a:cs typeface="Times New Roman" panose="02020603050405020304" pitchFamily="18" charset="0"/>
              </a:rPr>
              <a:t> – Numerical processing </a:t>
            </a:r>
          </a:p>
          <a:p>
            <a:pPr lvl="0"/>
            <a:r>
              <a:rPr lang="en-IN" sz="2400" b="1" dirty="0" err="1">
                <a:latin typeface="Times New Roman" panose="02020603050405020304" pitchFamily="18" charset="0"/>
                <a:cs typeface="Times New Roman" panose="02020603050405020304" pitchFamily="18" charset="0"/>
              </a:rPr>
              <a:t>OpenPyXL</a:t>
            </a:r>
            <a:r>
              <a:rPr lang="en-IN" sz="2400" dirty="0">
                <a:latin typeface="Times New Roman" panose="02020603050405020304" pitchFamily="18" charset="0"/>
                <a:cs typeface="Times New Roman" panose="02020603050405020304" pitchFamily="18" charset="0"/>
              </a:rPr>
              <a:t> – Excel file handling </a:t>
            </a:r>
          </a:p>
          <a:p>
            <a:pPr lvl="0"/>
            <a:r>
              <a:rPr lang="en-IN" sz="2400" b="1" dirty="0">
                <a:latin typeface="Times New Roman" panose="02020603050405020304" pitchFamily="18" charset="0"/>
                <a:cs typeface="Times New Roman" panose="02020603050405020304" pitchFamily="18" charset="0"/>
              </a:rPr>
              <a:t>MySQL</a:t>
            </a:r>
            <a:r>
              <a:rPr lang="en-IN" sz="2400" dirty="0">
                <a:latin typeface="Times New Roman" panose="02020603050405020304" pitchFamily="18" charset="0"/>
                <a:cs typeface="Times New Roman" panose="02020603050405020304" pitchFamily="18" charset="0"/>
              </a:rPr>
              <a:t> – Loading processed data</a:t>
            </a:r>
          </a:p>
        </p:txBody>
      </p:sp>
    </p:spTree>
    <p:extLst>
      <p:ext uri="{BB962C8B-B14F-4D97-AF65-F5344CB8AC3E}">
        <p14:creationId xmlns:p14="http://schemas.microsoft.com/office/powerpoint/2010/main" val="1657069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A87605-F178-39DF-3C1D-2F6F05371968}"/>
              </a:ext>
            </a:extLst>
          </p:cNvPr>
          <p:cNvPicPr>
            <a:picLocks noChangeAspect="1"/>
          </p:cNvPicPr>
          <p:nvPr/>
        </p:nvPicPr>
        <p:blipFill>
          <a:blip r:embed="rId2"/>
          <a:srcRect t="11493"/>
          <a:stretch>
            <a:fillRect/>
          </a:stretch>
        </p:blipFill>
        <p:spPr>
          <a:xfrm>
            <a:off x="3919268" y="672860"/>
            <a:ext cx="4353464" cy="577969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9BE78-BE6A-D501-8C25-FFB5C98043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7563D7-E0CF-0FA5-2C3B-FC7C3C35D2D7}"/>
              </a:ext>
            </a:extLst>
          </p:cNvPr>
          <p:cNvSpPr>
            <a:spLocks noGrp="1"/>
          </p:cNvSpPr>
          <p:nvPr>
            <p:ph type="title"/>
          </p:nvPr>
        </p:nvSpPr>
        <p:spPr>
          <a:xfrm>
            <a:off x="609600" y="274638"/>
            <a:ext cx="10972800" cy="1143000"/>
          </a:xfrm>
        </p:spPr>
        <p:txBody>
          <a:bodyPr>
            <a:normAutofit/>
          </a:bodyPr>
          <a:lstStyle/>
          <a:p>
            <a:pPr>
              <a:lnSpc>
                <a:spcPct val="120000"/>
              </a:lnSpc>
            </a:pPr>
            <a:r>
              <a:rPr lang="en-IN" sz="4000" dirty="0">
                <a:latin typeface="Times New Roman" panose="02020603050405020304" pitchFamily="18" charset="0"/>
                <a:cs typeface="Times New Roman" panose="02020603050405020304" pitchFamily="18" charset="0"/>
              </a:rPr>
              <a:t>Module 2: Data Warehouse Design</a:t>
            </a:r>
            <a:endParaRPr lang="en-AU"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E11EE08-3229-16BB-7268-B091C35EDC3E}"/>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B4CF3AB3-FBA9-C4AA-FABA-33F5ABC73A1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3" name="TextBox 2">
            <a:extLst>
              <a:ext uri="{FF2B5EF4-FFF2-40B4-BE49-F238E27FC236}">
                <a16:creationId xmlns:a16="http://schemas.microsoft.com/office/drawing/2014/main" id="{9B443D7D-59B9-EA94-6FF2-22AE42E5C3D1}"/>
              </a:ext>
            </a:extLst>
          </p:cNvPr>
          <p:cNvSpPr txBox="1"/>
          <p:nvPr/>
        </p:nvSpPr>
        <p:spPr>
          <a:xfrm>
            <a:off x="357352" y="1646611"/>
            <a:ext cx="6937528" cy="489364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Function</a:t>
            </a:r>
            <a:endParaRPr lang="en-IN" sz="2400"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Convert the cleaned data into a structured data warehouse. </a:t>
            </a:r>
          </a:p>
          <a:p>
            <a:pPr marL="285750" lvl="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Design a </a:t>
            </a:r>
            <a:r>
              <a:rPr lang="en-IN" sz="2400" b="1" dirty="0">
                <a:latin typeface="Times New Roman" panose="02020603050405020304" pitchFamily="18" charset="0"/>
                <a:cs typeface="Times New Roman" panose="02020603050405020304" pitchFamily="18" charset="0"/>
              </a:rPr>
              <a:t>Star Schema</a:t>
            </a:r>
            <a:r>
              <a:rPr lang="en-IN" sz="2400"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Create Fact and Dimension tables. </a:t>
            </a:r>
          </a:p>
          <a:p>
            <a:pPr marL="285750" lvl="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Establish primary-key and foreign-key relationships. </a:t>
            </a:r>
          </a:p>
          <a:p>
            <a:pPr marL="285750" lvl="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Store student placement information for analytical queries. </a:t>
            </a:r>
          </a:p>
          <a:p>
            <a:pPr marL="285750" lvl="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Support OLAP operations such as: </a:t>
            </a:r>
          </a:p>
          <a:p>
            <a:pPr marL="800100" lvl="1" indent="-342900">
              <a:buFont typeface="+mj-lt"/>
              <a:buAutoNum type="arabicPeriod"/>
            </a:pPr>
            <a:r>
              <a:rPr lang="en-IN" sz="2400" dirty="0">
                <a:latin typeface="Times New Roman" panose="02020603050405020304" pitchFamily="18" charset="0"/>
                <a:cs typeface="Times New Roman" panose="02020603050405020304" pitchFamily="18" charset="0"/>
              </a:rPr>
              <a:t>Roll-up </a:t>
            </a:r>
          </a:p>
          <a:p>
            <a:pPr marL="800100" lvl="1" indent="-342900">
              <a:buFont typeface="+mj-lt"/>
              <a:buAutoNum type="arabicPeriod"/>
            </a:pPr>
            <a:r>
              <a:rPr lang="en-IN" sz="2400" dirty="0">
                <a:latin typeface="Times New Roman" panose="02020603050405020304" pitchFamily="18" charset="0"/>
                <a:cs typeface="Times New Roman" panose="02020603050405020304" pitchFamily="18" charset="0"/>
              </a:rPr>
              <a:t>Drill-down </a:t>
            </a:r>
          </a:p>
          <a:p>
            <a:pPr marL="800100" lvl="1" indent="-342900">
              <a:buFont typeface="+mj-lt"/>
              <a:buAutoNum type="arabicPeriod"/>
            </a:pPr>
            <a:r>
              <a:rPr lang="en-IN" sz="2400" dirty="0">
                <a:latin typeface="Times New Roman" panose="02020603050405020304" pitchFamily="18" charset="0"/>
                <a:cs typeface="Times New Roman" panose="02020603050405020304" pitchFamily="18" charset="0"/>
              </a:rPr>
              <a:t>Slice </a:t>
            </a:r>
          </a:p>
          <a:p>
            <a:pPr marL="800100" lvl="1" indent="-342900">
              <a:buFont typeface="+mj-lt"/>
              <a:buAutoNum type="arabicPeriod"/>
            </a:pPr>
            <a:r>
              <a:rPr lang="en-IN" sz="2400" dirty="0">
                <a:latin typeface="Times New Roman" panose="02020603050405020304" pitchFamily="18" charset="0"/>
                <a:cs typeface="Times New Roman" panose="02020603050405020304" pitchFamily="18" charset="0"/>
              </a:rPr>
              <a:t>Dice</a:t>
            </a:r>
          </a:p>
        </p:txBody>
      </p:sp>
      <p:sp>
        <p:nvSpPr>
          <p:cNvPr id="7" name="TextBox 6">
            <a:extLst>
              <a:ext uri="{FF2B5EF4-FFF2-40B4-BE49-F238E27FC236}">
                <a16:creationId xmlns:a16="http://schemas.microsoft.com/office/drawing/2014/main" id="{3F677114-BECB-2A78-5C86-30F8B7B38D4C}"/>
              </a:ext>
            </a:extLst>
          </p:cNvPr>
          <p:cNvSpPr txBox="1"/>
          <p:nvPr/>
        </p:nvSpPr>
        <p:spPr>
          <a:xfrm>
            <a:off x="7294880" y="1978132"/>
            <a:ext cx="4724400" cy="1569660"/>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Technologies Used</a:t>
            </a:r>
            <a:endParaRPr lang="en-IN" sz="2400" dirty="0">
              <a:latin typeface="Times New Roman" panose="02020603050405020304" pitchFamily="18" charset="0"/>
              <a:cs typeface="Times New Roman" panose="02020603050405020304" pitchFamily="18" charset="0"/>
            </a:endParaRPr>
          </a:p>
          <a:p>
            <a:pPr lvl="0"/>
            <a:r>
              <a:rPr lang="en-IN" sz="2400" b="1" dirty="0">
                <a:latin typeface="Times New Roman" panose="02020603050405020304" pitchFamily="18" charset="0"/>
                <a:cs typeface="Times New Roman" panose="02020603050405020304" pitchFamily="18" charset="0"/>
              </a:rPr>
              <a:t>MySQL</a:t>
            </a:r>
            <a:r>
              <a:rPr lang="en-IN" sz="2400" dirty="0">
                <a:latin typeface="Times New Roman" panose="02020603050405020304" pitchFamily="18" charset="0"/>
                <a:cs typeface="Times New Roman" panose="02020603050405020304" pitchFamily="18" charset="0"/>
              </a:rPr>
              <a:t> – Data warehouse database </a:t>
            </a:r>
          </a:p>
          <a:p>
            <a:pPr lvl="0"/>
            <a:r>
              <a:rPr lang="en-IN" sz="2400" b="1" dirty="0">
                <a:latin typeface="Times New Roman" panose="02020603050405020304" pitchFamily="18" charset="0"/>
                <a:cs typeface="Times New Roman" panose="02020603050405020304" pitchFamily="18" charset="0"/>
              </a:rPr>
              <a:t>MySQL Workbench</a:t>
            </a:r>
            <a:r>
              <a:rPr lang="en-IN" sz="2400" dirty="0">
                <a:latin typeface="Times New Roman" panose="02020603050405020304" pitchFamily="18" charset="0"/>
                <a:cs typeface="Times New Roman" panose="02020603050405020304" pitchFamily="18" charset="0"/>
              </a:rPr>
              <a:t> – Database and schema design</a:t>
            </a:r>
          </a:p>
        </p:txBody>
      </p:sp>
    </p:spTree>
    <p:extLst>
      <p:ext uri="{BB962C8B-B14F-4D97-AF65-F5344CB8AC3E}">
        <p14:creationId xmlns:p14="http://schemas.microsoft.com/office/powerpoint/2010/main" val="3983749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FC6DC-0EA9-E1BD-4FDF-C4AE8203647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6A0284C-8566-E4B9-2DD7-44D0F2237D8C}"/>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0669C34E-82D7-D610-5A7A-2425DE5D96D5}"/>
              </a:ext>
            </a:extLst>
          </p:cNvPr>
          <p:cNvPicPr>
            <a:picLocks noChangeAspect="1"/>
          </p:cNvPicPr>
          <p:nvPr/>
        </p:nvPicPr>
        <p:blipFill>
          <a:blip r:embed="rId2"/>
          <a:stretch>
            <a:fillRect/>
          </a:stretch>
        </p:blipFill>
        <p:spPr>
          <a:xfrm>
            <a:off x="1512318" y="471786"/>
            <a:ext cx="9167364" cy="6111576"/>
          </a:xfrm>
          <a:prstGeom prst="rect">
            <a:avLst/>
          </a:prstGeom>
        </p:spPr>
      </p:pic>
    </p:spTree>
    <p:extLst>
      <p:ext uri="{BB962C8B-B14F-4D97-AF65-F5344CB8AC3E}">
        <p14:creationId xmlns:p14="http://schemas.microsoft.com/office/powerpoint/2010/main" val="35753469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0A2D5-0DDE-75A9-7E93-D666472FF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31EE5-1B18-5523-E98D-7A0FB5661527}"/>
              </a:ext>
            </a:extLst>
          </p:cNvPr>
          <p:cNvSpPr>
            <a:spLocks noGrp="1"/>
          </p:cNvSpPr>
          <p:nvPr>
            <p:ph type="title"/>
          </p:nvPr>
        </p:nvSpPr>
        <p:spPr>
          <a:xfrm>
            <a:off x="2265680" y="274638"/>
            <a:ext cx="7315200" cy="1143000"/>
          </a:xfrm>
        </p:spPr>
        <p:txBody>
          <a:bodyPr>
            <a:normAutofit fontScale="90000"/>
          </a:bodyPr>
          <a:lstStyle/>
          <a:p>
            <a:pPr>
              <a:lnSpc>
                <a:spcPct val="120000"/>
              </a:lnSpc>
            </a:pPr>
            <a:r>
              <a:rPr lang="en-IN" sz="4000" dirty="0">
                <a:latin typeface="Times New Roman" panose="02020603050405020304" pitchFamily="18" charset="0"/>
                <a:cs typeface="Times New Roman" panose="02020603050405020304" pitchFamily="18" charset="0"/>
              </a:rPr>
              <a:t>Module 3: Data Mining &amp; Placement Prediction</a:t>
            </a:r>
            <a:endParaRPr lang="en-AU"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C07ED92-D116-5DD9-50F2-15B6E2001CB0}"/>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CB10D0D5-FE25-44A9-830E-3D4CD4D8AA9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3" name="TextBox 2">
            <a:extLst>
              <a:ext uri="{FF2B5EF4-FFF2-40B4-BE49-F238E27FC236}">
                <a16:creationId xmlns:a16="http://schemas.microsoft.com/office/drawing/2014/main" id="{CAB2249A-515E-D5F8-9CA6-A0846DC48DAF}"/>
              </a:ext>
            </a:extLst>
          </p:cNvPr>
          <p:cNvSpPr txBox="1"/>
          <p:nvPr/>
        </p:nvSpPr>
        <p:spPr>
          <a:xfrm>
            <a:off x="172720" y="1978132"/>
            <a:ext cx="6937528" cy="3416320"/>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Function</a:t>
            </a:r>
            <a:endParaRPr 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Discover hidden patterns in student placement data.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Predict whether a student is likely to be placed.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Group students according to their placement potential.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Identify relationships between academic performance, skills, internships, certifications, and placement.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Evaluate the performance of mining models.</a:t>
            </a:r>
          </a:p>
        </p:txBody>
      </p:sp>
      <p:sp>
        <p:nvSpPr>
          <p:cNvPr id="7" name="TextBox 6">
            <a:extLst>
              <a:ext uri="{FF2B5EF4-FFF2-40B4-BE49-F238E27FC236}">
                <a16:creationId xmlns:a16="http://schemas.microsoft.com/office/drawing/2014/main" id="{B7C4C1AA-17F7-9AB9-DE87-F274978D7041}"/>
              </a:ext>
            </a:extLst>
          </p:cNvPr>
          <p:cNvSpPr txBox="1"/>
          <p:nvPr/>
        </p:nvSpPr>
        <p:spPr>
          <a:xfrm>
            <a:off x="7218680" y="1793466"/>
            <a:ext cx="4724400" cy="3785652"/>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Technologies Used</a:t>
            </a:r>
            <a:endParaRPr lang="en-IN" sz="2400" dirty="0">
              <a:latin typeface="Times New Roman" panose="02020603050405020304" pitchFamily="18" charset="0"/>
              <a:cs typeface="Times New Roman" panose="02020603050405020304" pitchFamily="18" charset="0"/>
            </a:endParaRPr>
          </a:p>
          <a:p>
            <a:pPr lvl="0"/>
            <a:r>
              <a:rPr lang="en-IN" sz="2400" b="1" dirty="0">
                <a:latin typeface="Times New Roman" panose="02020603050405020304" pitchFamily="18" charset="0"/>
                <a:cs typeface="Times New Roman" panose="02020603050405020304" pitchFamily="18" charset="0"/>
              </a:rPr>
              <a:t>Python</a:t>
            </a:r>
            <a:r>
              <a:rPr lang="en-IN" sz="2400" dirty="0">
                <a:latin typeface="Times New Roman" panose="02020603050405020304" pitchFamily="18" charset="0"/>
                <a:cs typeface="Times New Roman" panose="02020603050405020304" pitchFamily="18" charset="0"/>
              </a:rPr>
              <a:t> – Data mining implementation </a:t>
            </a:r>
          </a:p>
          <a:p>
            <a:pPr lvl="0"/>
            <a:r>
              <a:rPr lang="en-IN" sz="2400" b="1" dirty="0">
                <a:latin typeface="Times New Roman" panose="02020603050405020304" pitchFamily="18" charset="0"/>
                <a:cs typeface="Times New Roman" panose="02020603050405020304" pitchFamily="18" charset="0"/>
              </a:rPr>
              <a:t>Scikit-learn</a:t>
            </a:r>
            <a:r>
              <a:rPr lang="en-IN" sz="2400" dirty="0">
                <a:latin typeface="Times New Roman" panose="02020603050405020304" pitchFamily="18" charset="0"/>
                <a:cs typeface="Times New Roman" panose="02020603050405020304" pitchFamily="18" charset="0"/>
              </a:rPr>
              <a:t> – Machine learning </a:t>
            </a:r>
          </a:p>
          <a:p>
            <a:pPr lvl="0"/>
            <a:r>
              <a:rPr lang="en-IN" sz="2400" b="1" dirty="0">
                <a:latin typeface="Times New Roman" panose="02020603050405020304" pitchFamily="18" charset="0"/>
                <a:cs typeface="Times New Roman" panose="02020603050405020304" pitchFamily="18" charset="0"/>
              </a:rPr>
              <a:t>Decision Tree</a:t>
            </a:r>
            <a:r>
              <a:rPr lang="en-IN" sz="2400" dirty="0">
                <a:latin typeface="Times New Roman" panose="02020603050405020304" pitchFamily="18" charset="0"/>
                <a:cs typeface="Times New Roman" panose="02020603050405020304" pitchFamily="18" charset="0"/>
              </a:rPr>
              <a:t> – Placement classification </a:t>
            </a:r>
          </a:p>
          <a:p>
            <a:pPr lvl="0"/>
            <a:r>
              <a:rPr lang="en-IN" sz="2400" b="1" dirty="0">
                <a:latin typeface="Times New Roman" panose="02020603050405020304" pitchFamily="18" charset="0"/>
                <a:cs typeface="Times New Roman" panose="02020603050405020304" pitchFamily="18" charset="0"/>
              </a:rPr>
              <a:t>K-Means</a:t>
            </a:r>
            <a:r>
              <a:rPr lang="en-IN" sz="2400" dirty="0">
                <a:latin typeface="Times New Roman" panose="02020603050405020304" pitchFamily="18" charset="0"/>
                <a:cs typeface="Times New Roman" panose="02020603050405020304" pitchFamily="18" charset="0"/>
              </a:rPr>
              <a:t> – Student clustering </a:t>
            </a:r>
          </a:p>
          <a:p>
            <a:pPr lvl="0"/>
            <a:r>
              <a:rPr lang="en-IN" sz="2400" b="1" dirty="0" err="1">
                <a:latin typeface="Times New Roman" panose="02020603050405020304" pitchFamily="18" charset="0"/>
                <a:cs typeface="Times New Roman" panose="02020603050405020304" pitchFamily="18" charset="0"/>
              </a:rPr>
              <a:t>MLxtend</a:t>
            </a:r>
            <a:r>
              <a:rPr lang="en-IN" sz="2400" dirty="0">
                <a:latin typeface="Times New Roman" panose="02020603050405020304" pitchFamily="18" charset="0"/>
                <a:cs typeface="Times New Roman" panose="02020603050405020304" pitchFamily="18" charset="0"/>
              </a:rPr>
              <a:t> – Association rule mining </a:t>
            </a:r>
          </a:p>
          <a:p>
            <a:pPr lvl="0"/>
            <a:r>
              <a:rPr lang="en-IN" sz="2400" b="1" dirty="0" err="1">
                <a:latin typeface="Times New Roman" panose="02020603050405020304" pitchFamily="18" charset="0"/>
                <a:cs typeface="Times New Roman" panose="02020603050405020304" pitchFamily="18" charset="0"/>
              </a:rPr>
              <a:t>Apriori</a:t>
            </a:r>
            <a:r>
              <a:rPr lang="en-IN" sz="2400" dirty="0">
                <a:latin typeface="Times New Roman" panose="02020603050405020304" pitchFamily="18" charset="0"/>
                <a:cs typeface="Times New Roman" panose="02020603050405020304" pitchFamily="18" charset="0"/>
              </a:rPr>
              <a:t> – Discovering placement-related associations</a:t>
            </a:r>
          </a:p>
        </p:txBody>
      </p:sp>
    </p:spTree>
    <p:extLst>
      <p:ext uri="{BB962C8B-B14F-4D97-AF65-F5344CB8AC3E}">
        <p14:creationId xmlns:p14="http://schemas.microsoft.com/office/powerpoint/2010/main" val="2231248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CF516-5F3C-814A-F874-5BCCFD6D04A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0537737-B2D2-3D0B-6819-7AC50D201A4D}"/>
              </a:ext>
            </a:extLst>
          </p:cNvPr>
          <p:cNvPicPr>
            <a:picLocks noGrp="1" noChangeAspect="1"/>
          </p:cNvPicPr>
          <p:nvPr>
            <p:ph idx="1"/>
          </p:nvPr>
        </p:nvPicPr>
        <p:blipFill>
          <a:blip r:embed="rId2"/>
          <a:srcRect l="-212" t="9593" r="212" b="-9593"/>
          <a:stretch>
            <a:fillRect/>
          </a:stretch>
        </p:blipFill>
        <p:spPr>
          <a:xfrm>
            <a:off x="1623226" y="737558"/>
            <a:ext cx="8573196" cy="5715464"/>
          </a:xfrm>
          <a:prstGeom prst="rect">
            <a:avLst/>
          </a:prstGeom>
        </p:spPr>
      </p:pic>
    </p:spTree>
    <p:extLst>
      <p:ext uri="{BB962C8B-B14F-4D97-AF65-F5344CB8AC3E}">
        <p14:creationId xmlns:p14="http://schemas.microsoft.com/office/powerpoint/2010/main" val="652175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4B260-97A2-075E-C22E-ED6CBE400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92062F-965A-A9C1-714D-1777E06A4938}"/>
              </a:ext>
            </a:extLst>
          </p:cNvPr>
          <p:cNvSpPr>
            <a:spLocks noGrp="1"/>
          </p:cNvSpPr>
          <p:nvPr>
            <p:ph type="title"/>
          </p:nvPr>
        </p:nvSpPr>
        <p:spPr>
          <a:xfrm>
            <a:off x="2265680" y="274638"/>
            <a:ext cx="7315200" cy="1143000"/>
          </a:xfrm>
        </p:spPr>
        <p:txBody>
          <a:bodyPr>
            <a:normAutofit fontScale="90000"/>
          </a:bodyPr>
          <a:lstStyle/>
          <a:p>
            <a:pPr>
              <a:lnSpc>
                <a:spcPct val="120000"/>
              </a:lnSpc>
            </a:pPr>
            <a:r>
              <a:rPr lang="en-IN" sz="4000" dirty="0">
                <a:latin typeface="Times New Roman" panose="02020603050405020304" pitchFamily="18" charset="0"/>
                <a:cs typeface="Times New Roman" panose="02020603050405020304" pitchFamily="18" charset="0"/>
              </a:rPr>
              <a:t>Module 4: Data Analytics &amp; Power BI Visualization</a:t>
            </a:r>
            <a:endParaRPr lang="en-AU"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0F106A6-5340-F189-EBE3-515C9B1827A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12A5F309-6FFA-CF54-C0FF-B375EBA24CE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3" name="TextBox 2">
            <a:extLst>
              <a:ext uri="{FF2B5EF4-FFF2-40B4-BE49-F238E27FC236}">
                <a16:creationId xmlns:a16="http://schemas.microsoft.com/office/drawing/2014/main" id="{63E7F766-8DC2-EFE3-52CB-ADC6DF9E2121}"/>
              </a:ext>
            </a:extLst>
          </p:cNvPr>
          <p:cNvSpPr txBox="1"/>
          <p:nvPr/>
        </p:nvSpPr>
        <p:spPr>
          <a:xfrm>
            <a:off x="248920" y="2162798"/>
            <a:ext cx="5847080" cy="3785652"/>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Function</a:t>
            </a:r>
            <a:endParaRPr 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Connect the data warehouse to Power BI.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Create interactive placement analytics.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Display important KPIs. </a:t>
            </a:r>
          </a:p>
          <a:p>
            <a:pPr marL="342900" lvl="0" indent="-342900">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placement trends and salary patterns.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Compare academic and skill-related factors.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Provide filters and slicers for interactive analysis.</a:t>
            </a:r>
          </a:p>
        </p:txBody>
      </p:sp>
      <p:sp>
        <p:nvSpPr>
          <p:cNvPr id="7" name="TextBox 6">
            <a:extLst>
              <a:ext uri="{FF2B5EF4-FFF2-40B4-BE49-F238E27FC236}">
                <a16:creationId xmlns:a16="http://schemas.microsoft.com/office/drawing/2014/main" id="{07FF3FD2-B247-1988-4BBF-2C7CD8374E55}"/>
              </a:ext>
            </a:extLst>
          </p:cNvPr>
          <p:cNvSpPr txBox="1"/>
          <p:nvPr/>
        </p:nvSpPr>
        <p:spPr>
          <a:xfrm>
            <a:off x="6913880" y="2147784"/>
            <a:ext cx="4724400" cy="3416320"/>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Technologies Used</a:t>
            </a:r>
            <a:endParaRPr lang="en-IN" sz="2400" dirty="0">
              <a:latin typeface="Times New Roman" panose="02020603050405020304" pitchFamily="18" charset="0"/>
              <a:cs typeface="Times New Roman" panose="02020603050405020304" pitchFamily="18" charset="0"/>
            </a:endParaRPr>
          </a:p>
          <a:p>
            <a:pPr lvl="0"/>
            <a:r>
              <a:rPr lang="en-IN" sz="2400" b="1" dirty="0">
                <a:latin typeface="Times New Roman" panose="02020603050405020304" pitchFamily="18" charset="0"/>
                <a:cs typeface="Times New Roman" panose="02020603050405020304" pitchFamily="18" charset="0"/>
              </a:rPr>
              <a:t>Microsoft Power BI</a:t>
            </a:r>
            <a:r>
              <a:rPr lang="en-IN" sz="2400" dirty="0">
                <a:latin typeface="Times New Roman" panose="02020603050405020304" pitchFamily="18" charset="0"/>
                <a:cs typeface="Times New Roman" panose="02020603050405020304" pitchFamily="18" charset="0"/>
              </a:rPr>
              <a:t> – Dashboard and visualization </a:t>
            </a:r>
          </a:p>
          <a:p>
            <a:pPr lvl="0"/>
            <a:r>
              <a:rPr lang="en-IN" sz="2400" b="1" dirty="0">
                <a:latin typeface="Times New Roman" panose="02020603050405020304" pitchFamily="18" charset="0"/>
                <a:cs typeface="Times New Roman" panose="02020603050405020304" pitchFamily="18" charset="0"/>
              </a:rPr>
              <a:t>MySQL Connector</a:t>
            </a:r>
            <a:r>
              <a:rPr lang="en-IN" sz="2400" dirty="0">
                <a:latin typeface="Times New Roman" panose="02020603050405020304" pitchFamily="18" charset="0"/>
                <a:cs typeface="Times New Roman" panose="02020603050405020304" pitchFamily="18" charset="0"/>
              </a:rPr>
              <a:t> – Connect Power BI with MySQL </a:t>
            </a:r>
          </a:p>
          <a:p>
            <a:pPr lvl="0"/>
            <a:r>
              <a:rPr lang="en-IN" sz="2400" b="1" dirty="0">
                <a:latin typeface="Times New Roman" panose="02020603050405020304" pitchFamily="18" charset="0"/>
                <a:cs typeface="Times New Roman" panose="02020603050405020304" pitchFamily="18" charset="0"/>
              </a:rPr>
              <a:t>DAX</a:t>
            </a:r>
            <a:r>
              <a:rPr lang="en-IN" sz="2400" dirty="0">
                <a:latin typeface="Times New Roman" panose="02020603050405020304" pitchFamily="18" charset="0"/>
                <a:cs typeface="Times New Roman" panose="02020603050405020304" pitchFamily="18" charset="0"/>
              </a:rPr>
              <a:t> – Measures and calculated metrics </a:t>
            </a:r>
          </a:p>
          <a:p>
            <a:pPr lvl="0"/>
            <a:r>
              <a:rPr lang="en-IN" sz="2400" b="1" dirty="0">
                <a:latin typeface="Times New Roman" panose="02020603050405020304" pitchFamily="18" charset="0"/>
                <a:cs typeface="Times New Roman" panose="02020603050405020304" pitchFamily="18" charset="0"/>
              </a:rPr>
              <a:t>Power Query</a:t>
            </a:r>
            <a:r>
              <a:rPr lang="en-IN" sz="2400" dirty="0">
                <a:latin typeface="Times New Roman" panose="02020603050405020304" pitchFamily="18" charset="0"/>
                <a:cs typeface="Times New Roman" panose="02020603050405020304" pitchFamily="18" charset="0"/>
              </a:rPr>
              <a:t> – Data transformation in Power BI</a:t>
            </a:r>
          </a:p>
        </p:txBody>
      </p:sp>
    </p:spTree>
    <p:extLst>
      <p:ext uri="{BB962C8B-B14F-4D97-AF65-F5344CB8AC3E}">
        <p14:creationId xmlns:p14="http://schemas.microsoft.com/office/powerpoint/2010/main" val="42867395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C7BCA-3B04-0F23-A2B2-111AE9FE612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817BABD-6B75-3800-CB00-911CE5C9878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99828AF-7EAB-A348-5A78-1514BAFCF0C4}"/>
              </a:ext>
            </a:extLst>
          </p:cNvPr>
          <p:cNvPicPr>
            <a:picLocks noChangeAspect="1"/>
          </p:cNvPicPr>
          <p:nvPr/>
        </p:nvPicPr>
        <p:blipFill>
          <a:blip r:embed="rId2"/>
          <a:srcRect t="11698"/>
          <a:stretch>
            <a:fillRect/>
          </a:stretch>
        </p:blipFill>
        <p:spPr>
          <a:xfrm>
            <a:off x="1328279" y="689260"/>
            <a:ext cx="9308090" cy="5479479"/>
          </a:xfrm>
          <a:prstGeom prst="rect">
            <a:avLst/>
          </a:prstGeom>
        </p:spPr>
      </p:pic>
    </p:spTree>
    <p:extLst>
      <p:ext uri="{BB962C8B-B14F-4D97-AF65-F5344CB8AC3E}">
        <p14:creationId xmlns:p14="http://schemas.microsoft.com/office/powerpoint/2010/main" val="2611257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B8D34-EADB-1553-8EE1-B373BF8D58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00E041-5C41-2C1D-AAC6-6B7CFF11BC72}"/>
              </a:ext>
            </a:extLst>
          </p:cNvPr>
          <p:cNvSpPr>
            <a:spLocks noGrp="1"/>
          </p:cNvSpPr>
          <p:nvPr>
            <p:ph type="title"/>
          </p:nvPr>
        </p:nvSpPr>
        <p:spPr>
          <a:xfrm>
            <a:off x="2265680" y="274638"/>
            <a:ext cx="7315200" cy="1143000"/>
          </a:xfrm>
        </p:spPr>
        <p:txBody>
          <a:bodyPr>
            <a:normAutofit fontScale="90000"/>
          </a:bodyPr>
          <a:lstStyle/>
          <a:p>
            <a:pPr>
              <a:lnSpc>
                <a:spcPct val="120000"/>
              </a:lnSpc>
            </a:pPr>
            <a:r>
              <a:rPr lang="en-IN" sz="4000" dirty="0">
                <a:latin typeface="Times New Roman" panose="02020603050405020304" pitchFamily="18" charset="0"/>
                <a:cs typeface="Times New Roman" panose="02020603050405020304" pitchFamily="18" charset="0"/>
              </a:rPr>
              <a:t>Module 5: Web Application &amp; Reporting </a:t>
            </a:r>
            <a:endParaRPr lang="en-AU"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0D1CB29-D675-026E-ADB3-29584B671731}"/>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CA843C91-6010-B328-E4EC-7733BC92A0C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3" name="TextBox 2">
            <a:extLst>
              <a:ext uri="{FF2B5EF4-FFF2-40B4-BE49-F238E27FC236}">
                <a16:creationId xmlns:a16="http://schemas.microsoft.com/office/drawing/2014/main" id="{DDB47E87-867B-696F-9546-DA553C8134D5}"/>
              </a:ext>
            </a:extLst>
          </p:cNvPr>
          <p:cNvSpPr txBox="1"/>
          <p:nvPr/>
        </p:nvSpPr>
        <p:spPr>
          <a:xfrm>
            <a:off x="357352" y="1772727"/>
            <a:ext cx="5847080" cy="4154984"/>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Function</a:t>
            </a:r>
            <a:endParaRPr lang="en-IN" sz="24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Develop a web-based interface for the placement system.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Display student records and placement statistics.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Provide placement prediction based on student details.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Generate student, placement, salary, and skill reports. </a:t>
            </a:r>
          </a:p>
          <a:p>
            <a:pPr marL="342900" lvl="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Provide interactive charts and dashboards for easy analysis.</a:t>
            </a:r>
          </a:p>
        </p:txBody>
      </p:sp>
      <p:sp>
        <p:nvSpPr>
          <p:cNvPr id="7" name="TextBox 6">
            <a:extLst>
              <a:ext uri="{FF2B5EF4-FFF2-40B4-BE49-F238E27FC236}">
                <a16:creationId xmlns:a16="http://schemas.microsoft.com/office/drawing/2014/main" id="{8E7AADE9-5272-768B-7C89-BD6BFACEF79C}"/>
              </a:ext>
            </a:extLst>
          </p:cNvPr>
          <p:cNvSpPr txBox="1"/>
          <p:nvPr/>
        </p:nvSpPr>
        <p:spPr>
          <a:xfrm>
            <a:off x="6913880" y="2147784"/>
            <a:ext cx="4724400" cy="2308324"/>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Technologies Used</a:t>
            </a:r>
            <a:endParaRPr lang="en-IN" sz="2400" dirty="0">
              <a:latin typeface="Times New Roman" panose="02020603050405020304" pitchFamily="18" charset="0"/>
              <a:cs typeface="Times New Roman" panose="02020603050405020304" pitchFamily="18" charset="0"/>
            </a:endParaRPr>
          </a:p>
          <a:p>
            <a:pPr lvl="0"/>
            <a:r>
              <a:rPr lang="en-IN" sz="2400" dirty="0">
                <a:latin typeface="Times New Roman" panose="02020603050405020304" pitchFamily="18" charset="0"/>
                <a:cs typeface="Times New Roman" panose="02020603050405020304" pitchFamily="18" charset="0"/>
              </a:rPr>
              <a:t>Python &amp; Flask </a:t>
            </a:r>
          </a:p>
          <a:p>
            <a:pPr lvl="0"/>
            <a:r>
              <a:rPr lang="en-IN" sz="2400" dirty="0">
                <a:latin typeface="Times New Roman" panose="02020603050405020304" pitchFamily="18" charset="0"/>
                <a:cs typeface="Times New Roman" panose="02020603050405020304" pitchFamily="18" charset="0"/>
              </a:rPr>
              <a:t>HTML, CSS &amp; Bootstrap </a:t>
            </a:r>
          </a:p>
          <a:p>
            <a:pPr lvl="0"/>
            <a:r>
              <a:rPr lang="en-IN" sz="2400" dirty="0">
                <a:latin typeface="Times New Roman" panose="02020603050405020304" pitchFamily="18" charset="0"/>
                <a:cs typeface="Times New Roman" panose="02020603050405020304" pitchFamily="18" charset="0"/>
              </a:rPr>
              <a:t>JavaScript &amp; Chart.js </a:t>
            </a:r>
          </a:p>
          <a:p>
            <a:pPr lvl="0"/>
            <a:r>
              <a:rPr lang="en-IN" sz="2400" dirty="0">
                <a:latin typeface="Times New Roman" panose="02020603050405020304" pitchFamily="18" charset="0"/>
                <a:cs typeface="Times New Roman" panose="02020603050405020304" pitchFamily="18" charset="0"/>
              </a:rPr>
              <a:t>MySQL </a:t>
            </a:r>
          </a:p>
          <a:p>
            <a:pPr lvl="0"/>
            <a:r>
              <a:rPr lang="en-IN" sz="2400" dirty="0">
                <a:latin typeface="Times New Roman" panose="02020603050405020304" pitchFamily="18" charset="0"/>
                <a:cs typeface="Times New Roman" panose="02020603050405020304" pitchFamily="18" charset="0"/>
              </a:rPr>
              <a:t>Power BI</a:t>
            </a:r>
          </a:p>
        </p:txBody>
      </p:sp>
    </p:spTree>
    <p:extLst>
      <p:ext uri="{BB962C8B-B14F-4D97-AF65-F5344CB8AC3E}">
        <p14:creationId xmlns:p14="http://schemas.microsoft.com/office/powerpoint/2010/main" val="1601144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2E73-BAC5-E2A0-6B6B-ED7AEC93269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8DF83E4-60C0-73C0-7EAD-7E07F780D710}"/>
              </a:ext>
            </a:extLst>
          </p:cNvPr>
          <p:cNvPicPr>
            <a:picLocks noGrp="1" noChangeAspect="1"/>
          </p:cNvPicPr>
          <p:nvPr>
            <p:ph idx="1"/>
          </p:nvPr>
        </p:nvPicPr>
        <p:blipFill>
          <a:blip r:embed="rId2"/>
          <a:srcRect t="10388"/>
          <a:stretch>
            <a:fillRect/>
          </a:stretch>
        </p:blipFill>
        <p:spPr>
          <a:xfrm>
            <a:off x="3447805" y="463669"/>
            <a:ext cx="5296389" cy="5930661"/>
          </a:xfrm>
          <a:prstGeom prst="rect">
            <a:avLst/>
          </a:prstGeom>
        </p:spPr>
      </p:pic>
    </p:spTree>
    <p:extLst>
      <p:ext uri="{BB962C8B-B14F-4D97-AF65-F5344CB8AC3E}">
        <p14:creationId xmlns:p14="http://schemas.microsoft.com/office/powerpoint/2010/main" val="4224061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672</TotalTime>
  <Words>947</Words>
  <Application>Microsoft Office PowerPoint</Application>
  <PresentationFormat>Widescreen</PresentationFormat>
  <Paragraphs>126</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SkillLens: Student Placement Intelligence System Using Data Warehousing and Data Mining</vt:lpstr>
      <vt:lpstr>ABSTRACT</vt:lpstr>
      <vt:lpstr>OBJECTIVES</vt:lpstr>
      <vt:lpstr>LITERATURE REVIEW</vt:lpstr>
      <vt:lpstr>ARCHITECTURE DIAGRAM</vt:lpstr>
      <vt:lpstr>LIST OF MODULES</vt:lpstr>
      <vt:lpstr>Module 1: Data Collection &amp; ETL</vt:lpstr>
      <vt:lpstr>PowerPoint Presentation</vt:lpstr>
      <vt:lpstr>Module 2: Data Warehouse Design</vt:lpstr>
      <vt:lpstr>PowerPoint Presentation</vt:lpstr>
      <vt:lpstr>Module 3: Data Mining &amp; Placement Prediction</vt:lpstr>
      <vt:lpstr>PowerPoint Presentation</vt:lpstr>
      <vt:lpstr>Module 4: Data Analytics &amp; Power BI Visualization</vt:lpstr>
      <vt:lpstr>PowerPoint Presentation</vt:lpstr>
      <vt:lpstr>Module 5: Web Application &amp; Reporting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Title</dc:title>
  <dc:subject/>
  <dc:creator>sankar</dc:creator>
  <cp:keywords/>
  <dc:description>generated using python-pptx</dc:description>
  <cp:lastModifiedBy>Haresh kumar</cp:lastModifiedBy>
  <cp:revision>46</cp:revision>
  <dcterms:created xsi:type="dcterms:W3CDTF">2013-01-27T09:14:16Z</dcterms:created>
  <dcterms:modified xsi:type="dcterms:W3CDTF">2026-08-18T09:29:31Z</dcterms:modified>
  <cp:category/>
</cp:coreProperties>
</file>